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exam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Application &amp;
drawing mgmt</c:v>
                </c:pt>
                <c:pt idx="1">
                  <c:v>Annotation &amp;
detailing</c:v>
                </c:pt>
                <c:pt idx="2">
                  <c:v>Author &amp; edit
content</c:v>
                </c:pt>
                <c:pt idx="3">
                  <c:v>Design
output</c:v>
                </c:pt>
                <c:pt idx="4">
                  <c:v>Collaboration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20</c:v>
                </c:pt>
                <c:pt idx="2">
                  <c:v>29</c:v>
                </c:pt>
                <c:pt idx="3">
                  <c:v>16</c:v>
                </c:pt>
                <c:pt idx="4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34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on sheet trust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Scale</c:v>
                </c:pt>
                <c:pt idx="1">
                  <c:v>Clipping</c:v>
                </c:pt>
                <c:pt idx="2">
                  <c:v>Lineweight</c:v>
                </c:pt>
                <c:pt idx="3">
                  <c:v>References</c:v>
                </c:pt>
                <c:pt idx="4">
                  <c:v>Revision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6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hero-v1.png"/>
          <p:cNvPicPr>
            <a:picLocks noChangeAspect="1"/>
          </p:cNvPicPr>
          <p:nvPr/>
        </p:nvPicPr>
        <p:blipFill>
          <a:blip r:embed="rId2"/>
          <a:srcRect t="2957" b="2957"/>
          <a:stretch>
            <a:fillRect/>
          </a:stretch>
        </p:blipFill>
        <p:spPr>
          <a:xfrm>
            <a:off x="0" y="201168"/>
            <a:ext cx="12191695" cy="64556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01168"/>
            <a:ext cx="5897880" cy="6455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182880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4406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Autodesk Certified Professional (ACP) - AutoCAD Design and Drafting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16052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6227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TGS-2023036004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4243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v8.0  ·  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44768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— Three Required Check-ins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at the start of each training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again after lunch when prompted by the trainer.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separate assessment check-in before the final papers.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Maintain at least 75% attendance and complete all prescribed assessments.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profile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AUTOCAD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and Courseware Developer
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courseware developer at Tertiary Infotech Academy.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Doctorate-qualified adult educator with ACTA/DACE training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software workflows, design communication, automation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Connect design intent to measurable standards, practice evidence and stakeholder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STUDIO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kinds of drawings do you create or review?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Which AutoCAD workflows are already familiar?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Challenge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Where do revisions, standards or coordination currently fail?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professional outcome should this course unlock?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PROFESSIONAL 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mobile devices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different professional viewpoints.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only authorised project files and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Keep evidence of your own work.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LMS/TMS 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Locate the current Courseware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slides, Learner Guide and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each lab from its own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32 HOURS · 4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Days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Standards and drawing management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Units, UCS, layers, properties and advanced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1–2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Author, edit and annotate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Precision editing, blocks, attributes and annotation systems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3–6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Output and collaboration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Layouts, page setups, publish, eTransmit and Xrefs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7–9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4 — Integrate and demonstrate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Sink documentation capstone, evidence review, WA and PP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 10 + final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Sketching · BEV-DES-5026-1.1-1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Coverage — Knowledge and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K1 · Emerging design visualization standards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K2 · Revision methods for 2D and 3D drawings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K3 · Storytelling and stakeholder engagement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K4 · Emerging drawing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 · Define art direction and sketching style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A2 · Guide drawing capability development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 · Develop organisational drawing standards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 · Lead technology and method selection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 · Inspire traditional and contemporary approaches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Standards and art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Drawing and revision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Standards, storytelling and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Emerging technology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Exploration and stakeholder inspiration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Autodesk ACP Exam-Domain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1874519"/>
          <a:ext cx="10332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Official Autodesk AutoCAD ACP domain weighting. Use it to balance review effort; WSQ assessment remains K1–K4 and A1–A5.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PROFESSIONAL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 the drawing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Communicate through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 and revise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 design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Coordinate and lead 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FINAL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Individual, open-book assessment using approved course materials.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phones and other materials under the 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discussion, photos or recording of assessment scripts.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black/blue pen; no liquid paper or correction tape.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Answer in your own words and submit through LMS/TMS.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 requires competence in every required criterion.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Written Assessment (WA-SAQ) — 4 open-ended questions covering K1–K4, 60 minutes, open book.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Knowledge evidence from slides and Learner Guide.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Four questions retain the original WA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Practical Performance (PP) — 5 hands-on tasks covering A1–A5, 120 minutes, open book.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Practical evidence from the sink layout workflow.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Five tasks retain the original PP count and A1–A5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WA → PP →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Sign-off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PP · 120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Assessor decision: C / NYC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Feedback, sign-off or 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and Drawing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Standards · units · UCS · layers · properties · drawing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DRAWING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reliable drawing begins with declared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Units, origin, naming, layers and revision status are part of the design — not afterthoughts.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AUTHORING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Setup — Six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decision or deliverable must the drawing support?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Length, precision, insertion scale and angle convention.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Origin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World coordinates plus named project UCS where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Names, properties, plot behaviour and ownership.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Fit-for-purpose types with measurable properties.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Status, filename, change record and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DIFFERENT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Units, Scale and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each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Drawing units describe model-space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Insertion scale controls how referenced content enters.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Viewport scale controls model-to-paper presentation.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a known dimension before editing.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Never fix a wrong model scale with a plot-scale workaround.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precision appropriate to the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COORDINATE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Coordinate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in World UCS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task 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and restore the UCS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Create/edit with controlled axes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to World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ORGANISE BY FUNCTION AND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Colour, linetype, lineweight, transparency and plot style.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 for temporary visibility; Freeze for regeneration/performance.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Lock prevents accidental edits while keeping context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Xref prefixes and layer naming reveal source and responsibility.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Property and group filters focus complex drawings.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combinations restore review, plot or coordination views.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TWO LEVELS OF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States vs Viewport Overrides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Layer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Viewport override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 states capture a reusable visibility/property condition.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them for named working, coordination and presentation modes.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Restore globally or selectively.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Viewport overrides change presentation in one layout viewport.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them to emphasise sheet-specific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global layer properties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FIND THE RIGHT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Queries and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Properties palette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and edit complete object properties.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Quick Select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by object type and property.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 Similar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 the current object's property pattern.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compound selection criteria.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LIST / ID / DIST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coordinates, geometry and measurement.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Hide / Isolate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visual complexity temporarily.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CONTROLLED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Health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 the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Purge confirmed unused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 references and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a new revision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— Drawing Standards and Project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Declare units, origin and standards before editing.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measurable checks instead of visual guesswork.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Submit setup and drawing-health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standards-ready furniture plan with a completed drawing-standard record and verified setup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 — Layers, Object Management and Revision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Organise complexity with filters and layer states.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overrides without damaging global standards.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Record controlled revision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revised furniture plan with reusable layer states, filters and a change 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Annotation and Detailing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Text · dimensions · hatches · multileaders · tables · annotative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DESIGN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Annotation is the voice of the drawing.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good sheet controls what the stakeholder notices, understands and decides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DRAWING AS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Reading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Orient with title and key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primary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Follow callouts to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schedules and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revision and 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Annotation Style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Font, height policy, width and readability.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Units, precision, symbols and placement.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Multileader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Arrow, landing and content hierarchy.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Table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Title, header, data rows and borders.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Hatch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Pattern, scale, angle and origin.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Annotative 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object, multiple paper-readable scales.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MEASUREMENT WITH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the Dimension by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Linear / aligned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Horizontal, vertical or true-length distances.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Angular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relationship between lines or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Radial / diameter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Circular geometry and manufacturing intent.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Ordinate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Coordinate-based production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 length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Measured curved distance.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Quick Dimension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Efficient chains that still require review.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TRUSTWORTHY DETAILING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Associativity and Overrides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Keep data 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Control exceptions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Associative dimensions update with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Reassociate after controlled geometry changes.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fields when text should reflect a live property.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typing over measured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Treat exceptions as documented deviations.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every override in plot preview.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CHANGE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Hatches, Revision Clouds and Wipeouts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Hatch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Communicate material, section or scope — not decoration.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Origin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patterns so similar surfaces read consistently.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Revision 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the changed area visible and bounded.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Delta / note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what changed and why it matters.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Wipeout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local legibility without concealing required information.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added, removed and modified content.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READABLE ON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Annotative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Quality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text or symbol can support several intended viewport scales.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active annotation scale controls what you create and see.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Add only scales required by the drawing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in paper space at the target scale.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viewport annotation visibility.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duplicate manual copies with inconsistent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FROM OBJECTS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Tables and Drawing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information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 table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fields or attributes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units and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and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— Annotation Standards and Stakeholder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reusable annotation styles.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Lead the stakeholder through a deliberate reading order.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Make one revision visible and reviewable.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An annotated plan with text, dimensions, multileaders, hatches and revision communication governed by named styles.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— Dimensions, Multileaders and Data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fit-for-purpose dimension types.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Coordinate leaders and component schedules.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Prove readability in plot preview.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review sheet with validated dimensions, labels and a structured furniture/component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Author and Edit Drawing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Advanced geometry · precision editing · blocks · attributes ·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AUTHORING WITH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Object type is a design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Choose geometry by how it must behave when selected, measured, revised and reused.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CHOOSE BY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Advanced Drawing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Polyline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Connected line/arc segments as one editable object.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Smooth fit or control-vertex curve for refined profiles.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Polygon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Regular closed polyline from centre/radius or 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Closed 2D area with properties and Boolean operations.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Xline / Ray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Infinite or semi-infinite construction reference.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Parallel elements governed by a named style.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CONNECTED VS CONTROLLED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Polyline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Polylines stay connected through grip editing.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Width, arcs and linetype generation live on one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Closed polylines support area, regions and extrusion.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Fit splines pass through points; CV splines are shaped by a control frame.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fewer, deliberate control points.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based on revision control, not smooth appearance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ACCURACY IS 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Precision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units and UCS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snap/track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coordinates or distances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Edit with grips and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SELECT THE LEAST DESTRUCTIVE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Modification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Move, Copy, Rotate, Mirror, Scale and Stretch.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Parallel / 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Offset, Trim, Extend, Break and Join.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Fillet and Chamfer with deliberate radii/distances.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Pattern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Rectangular, polar and path arrays.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Explode only when object structure must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manipulation with object-specific options.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Associative Arrays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Associative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Multifunctional grips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Arrays retain count, spacing, angle or path relationships.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Edit the array as one parametric collection.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Explode only for a documented downstream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Grip menus expose object-specific actions.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Hover to identify Stretch, Add, Remove, Convert and other modes.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Dynamic input shows values near the cursor.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2D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Regions and Boolean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closed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Convert to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area and centroid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Union, subtract or intersect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a pre-Boolean copy for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FLAT GEOMETRY · 3D APPEARANCE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Drafting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Isoplane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Left, Top or Right controls the active snap plane.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Cycle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F5 or Ctrl+E changes isoplane.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Isocircle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Ellipse option available only in isometric drafting.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isometric drawing is 2D representation, not a 3D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aligned/oblique techniques deliberately.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when a fast pictorial view supports the audience.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REUSE VS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 vs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block is one reusable definition with many instances.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Edit the definition to update its instances.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Attributes carry instance-specific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group is a temporary selection relationship between existing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does not create a reusable definition.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it for coordinated selection, not standard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DRAWING CONTENT AS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Attributes to Data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information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and populate 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Synchronise controlled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Extract a schedule and 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LO1–LO2 · K1, K2 · A1,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— Advanced Geometry and Precision Editing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object types that suit revision behaviour.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precision tools into a repeatable system.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the final 2D and isometric geometry.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precise 2D component study plus an isometric view using fit-for-purpose object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— Blocks, Attributes and Data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Design reusable block definitions.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Carry instance data through attributes.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Extract and validate a component schedule.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small furniture block library with attributes and an extracted component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Configure and Manage Design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Layouts · viewports · page setup · plotting · publishing · eTransmit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SHEET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Model once. Communicate through controlled sheets.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Paper space governs view, scale, title block and output — without duplicating model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AUTHORING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vs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Model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Paper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at full size in agreed drawing units.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and revise design geometry once.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 discipline layers and object properties.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Compose sheets at paper size.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views through scaled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title blocks, page setups and sheet-specific emphasis.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REPEATABLE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 and Page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Create/rename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device or PDF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paper and orientation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plot area, scale and style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Preview and assign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WINDOWS INTO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Viewport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Top, Front, Right, Isometric or a named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an approved custom or standard 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Visual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2D wireframe, Hidden, Shaded or Realistic by purpose.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 override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Emphasise the sheet without changing the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 accidental pan/zoom after approval.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Annotation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readability at the viewport scale.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Quality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1874519"/>
          <a:ext cx="10332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Conceptual 1–5 quality-impact comparison for discussion; values are instructional, not measured project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MULTI-SHEET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Publish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Order current layouts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page setups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Configure PDF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Preview every sheet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and inspect the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COMPLETE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eTransmit a Portable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path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fonts/plot styles as permitted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ZIP and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Open-test from the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K3 · A1, A2,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— Layouts, Viewports and Page Setups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ISO A1, A2 and A3 sheets.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Control views, scales, visual styles and locks.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Prove title-block and page-setup consistency.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coordinated three-sheet sink drawing set that mirrors the original practical-assessment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LO3–LO4 · K3, K4 · A3,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— Publish, Plot and eTransmit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Publish only current, ordered layouts.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Inspect each PDF sheet at full size.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the eTransmit inventory and portability.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published PDF sheet set and a verified eTransmit package with a transmittal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Collaboration and Emerging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Xrefs · underlays · compare · shared views · tool palettes ·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Collaboration works when ownership stays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Reference other teams' work, manage paths and communicate changes without silently duplicating source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Attach vs Overlay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Attach allows nested references to propagate into the host.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when downstream visibility is intended and controlled.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nesting and ownership.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Overlay prevents the reference from propagating when the host is referenced again.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to avoid circular or unwanted nesting.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Often safer for discipline coordination.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PORTABILITY AND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 Path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Portable within a known project folder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location but fragile when moved between machines.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path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Search-based and ambiguous outside a disciplined package.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Repath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Repair links without changing insertion or scale.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Unload / reload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performance while retaining the definition.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eTransmit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Package references and document path handling.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LAYER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Xref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source prefix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global ownership intact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host review overrides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binding without a requirement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coordination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REFERENCE, DO NOT DUPLICATE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Underlays and Linked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PDF underlay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Reference issued sheets without redrawing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Raster image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Trace, compare or communicate using controlled imagery.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 the visible region without modifying the source.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Fade / contrast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context visible without overpowering host content.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Hyperlink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an object to approved external information.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Path 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links from the final package location.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CHANGE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Compare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baseline and revision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 added/removed/modified overlays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decision-critical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response and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TECHNOLOGY MUST SERVE THE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Emerging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Shared Views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Browser-based review without handing over editable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Markup Import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Bring review comments back into the drawing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extraction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block/attribute data into schedules and QA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palettes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Standardise approved commands, blocks and hatches.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scripts and routines for repeatable, governed tasks.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coordination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permissions, ownership, revision and audit trail.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A4 · A5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Selection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Risk and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Value and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Accuracy and standards fit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Interoperability and path portability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Revision traceability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Security and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Time saved across repeated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Learning and support effort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and auditability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Ability to scale with organisational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09 — Xrefs, Underlays and Drawing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Preserve ownership through controlled references.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relative paths and host-only review overrides.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Classify changes and stakeholder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host coordination drawing with controlled Xrefs/underlays and a documented comparison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LO1–LO5 · K1–K4 · A1–A5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Integrated Sink Documentation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Integrate standards, layouts and component data.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Publish and package a complete sink drawing set.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Lead a concise stakeholder approval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standards-based sink drawing set with layouts, title blocks, viewports, component table, publish package and review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FROM BRIEF TO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Professional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 and revise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Annotate and tell the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controlled sheets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Coordinate, review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Quality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 the setting and the visible result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filenames that identify lab, learner and revision.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units, coordinates, scales and paths explicitly.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current DWG plus published/package outputs.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Capture acceptance criteria, not every click.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 the decision behind the tool choice.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WA-SAQ +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Written Assessment (WA-SAQ) — 4 open-ended questions covering K1–K4, 60 minutes, open book.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Practical Performance (PP) — 5 hands-on tasks covering A1–A5, 120 minutes, open book.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Question papers retain the original instrument type, counts, timings and K/A coverage.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Answer keys remain trainer-only and are never linked to the LMS or public GitHub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COMPLETE EVERY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Sign-off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Assessor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Feedback, sign-off or 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— Final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Completed for Day 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Completed after lunch.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Completed before the final papers.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required feedback survey.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and Next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Revisit the detailed Learner Guide and individual lab folders.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only files and references authorised for your project.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Request post-course consultation through Tertiary Infotech.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 portfolio drawing set with standards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Practise explaining design decisions without relying on memorised clicks.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Continue with related Autodesk design and BIM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AUTOCAD DESIGN AND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Draft with intent. Revise with control. Publish with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