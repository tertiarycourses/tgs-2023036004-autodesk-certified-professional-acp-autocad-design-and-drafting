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Percent of exam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Application &amp;
drawing mgmt</c:v>
                </c:pt>
                <c:pt idx="1">
                  <c:v>Annotation &amp;
detailing</c:v>
                </c:pt>
                <c:pt idx="2">
                  <c:v>Author &amp; edit
content</c:v>
                </c:pt>
                <c:pt idx="3">
                  <c:v>Design
output</c:v>
                </c:pt>
                <c:pt idx="4">
                  <c:v>Collaboration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</c:v>
                </c:pt>
                <c:pt idx="1">
                  <c:v>20</c:v>
                </c:pt>
                <c:pt idx="2">
                  <c:v>29</c:v>
                </c:pt>
                <c:pt idx="3">
                  <c:v>16</c:v>
                </c:pt>
                <c:pt idx="4">
                  <c:v>13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2226939960"/>
        <c:axId val="2180972856"/>
      </c:barChart>
      <c:catAx>
        <c:axId val="2226939960"/>
        <c:scaling>
          <c:orientation val="minMax"/>
        </c:scaling>
        <c:delete val="0"/>
        <c:axPos val="b"/>
        <c:majorTickMark val="out"/>
        <c:minorTickMark val="none"/>
        <c:tickLblPos val="nextTo"/>
        <c:crossAx val="2180972856"/>
        <c:crosses val="autoZero"/>
        <c:auto val="1"/>
        <c:lblAlgn val="ctr"/>
        <c:lblOffset val="100"/>
        <c:noMultiLvlLbl val="0"/>
      </c:catAx>
      <c:valAx>
        <c:axId val="2180972856"/>
        <c:scaling>
          <c:max val="34.0"/>
          <c:min val="0.0"/>
        </c:scaling>
        <c:delete val="0"/>
        <c:axPos val="l"/>
        <c:majorGridlines/>
        <c:majorTickMark val="out"/>
        <c:minorTickMark val="none"/>
        <c:tickLblPos val="nextTo"/>
        <c:crossAx val="2226939960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Impact on sheet trust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Scale</c:v>
                </c:pt>
                <c:pt idx="1">
                  <c:v>Clipping</c:v>
                </c:pt>
                <c:pt idx="2">
                  <c:v>Lineweight</c:v>
                </c:pt>
                <c:pt idx="3">
                  <c:v>References</c:v>
                </c:pt>
                <c:pt idx="4">
                  <c:v>Revision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</c:v>
                </c:pt>
                <c:pt idx="1">
                  <c:v>5</c:v>
                </c:pt>
                <c:pt idx="2">
                  <c:v>4</c:v>
                </c:pt>
                <c:pt idx="3">
                  <c:v>5</c:v>
                </c:pt>
                <c:pt idx="4">
                  <c:v>4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2226939960"/>
        <c:axId val="2180972856"/>
      </c:barChart>
      <c:catAx>
        <c:axId val="2226939960"/>
        <c:scaling>
          <c:orientation val="minMax"/>
        </c:scaling>
        <c:delete val="0"/>
        <c:axPos val="b"/>
        <c:majorTickMark val="out"/>
        <c:minorTickMark val="none"/>
        <c:tickLblPos val="nextTo"/>
        <c:crossAx val="2180972856"/>
        <c:crosses val="autoZero"/>
        <c:auto val="1"/>
        <c:lblAlgn val="ctr"/>
        <c:lblOffset val="100"/>
        <c:noMultiLvlLbl val="0"/>
      </c:catAx>
      <c:valAx>
        <c:axId val="2180972856"/>
        <c:scaling>
          <c:max val="6.0"/>
          <c:min val="0.0"/>
        </c:scaling>
        <c:delete val="0"/>
        <c:axPos val="l"/>
        <c:majorGridlines/>
        <c:majorTickMark val="out"/>
        <c:minorTickMark val="none"/>
        <c:tickLblPos val="nextTo"/>
        <c:crossAx val="2226939960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ver-hero-v1.png"/>
          <p:cNvPicPr>
            <a:picLocks noChangeAspect="1"/>
          </p:cNvPicPr>
          <p:nvPr/>
        </p:nvPicPr>
        <p:blipFill>
          <a:blip r:embed="rId2"/>
          <a:srcRect t="2957" b="2957"/>
          <a:stretch>
            <a:fillRect/>
          </a:stretch>
        </p:blipFill>
        <p:spPr>
          <a:xfrm>
            <a:off x="0" y="201168"/>
            <a:ext cx="12191695" cy="645566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201168"/>
            <a:ext cx="5897880" cy="64556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rtiary-info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66928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28800"/>
            <a:ext cx="5349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COURSE SLIDES  ·  WSQ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544068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Autodesk Certified Professional (ACP) - AutoCAD Design and Drafting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462272"/>
            <a:ext cx="5303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TGS-2023036004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742432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v8.0  ·  22 August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144768"/>
            <a:ext cx="53949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 &amp; Course Orientation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— Three Required Check-ins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AM attendance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Scan the SSG QR code at the start of each training day.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PM attendance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Scan again after lunch when prompted by the trainer.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Assessment attendance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Complete the separate assessment check-in before the final papers.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Eligibility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Maintain at least 75% attendance and complete all prescribed assessments.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YOUR TRAINER ·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General trainer profile template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DESIGNATION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AUTOCAD EXPERTISE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INDUSTRY 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 and Courseware Developer
Tertiary Infotech Academy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Principal trainer and courseware developer at Tertiary Infotech Academy.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Doctorate-qualified adult educator with ACTA/DACE training credentials.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FOCUS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Professional software workflows, design communication, automation and emerging technologies.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APPROACH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Connect design intent to measurable standards, practice evidence and stakeholder outcomes.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STUDIO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What kinds of drawings do you create or review?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Which AutoCAD workflows are already familiar?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Challenge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Where do revisions, standards or coordination currently fail?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Goal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What professional outcome should this course unlock?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PROFESSIONAL LEARNING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Set mobile devices to silent mode.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Participate actively — no question is too small.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Respect different professional viewpoints.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Use only authorised project files and data.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Return from breaks on time.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Keep evidence of your own work.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LMS-TMS.TERTIARYINFOTECH.COM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Download Your Course Materials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Open the LMS/TMS course page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Locate the current Courseware section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Download slides, Learner Guide and labs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Open each lab from its own folder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32 HOURS · 4 DAYS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Four-Day Learning Journey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Days 1–2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Days 3–4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1 — Standards and drawing management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Units, UCS, layers, properties and advanced objects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Labs 1–2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2 — Author, edit and annotate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Precision editing, blocks, attributes and annotation systems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Labs 3–6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3 — Output and collaboration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Layouts, page setups, publish, eTransmit and Xrefs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Labs 7–9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4 — Integrate and demonstrate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Sink documentation capstone, evidence review, WA and PP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Lab 10 + final assessment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Design Sketching · BEV-DES-5026-1.1-1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TSC Coverage — Knowledge and Abilities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Knowledge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K1 · Emerging design visualization standards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K2 · Revision methods for 2D and 3D drawings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K3 · Storytelling and stakeholder engagement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K4 · Emerging drawing technologies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A1 · Define art direction and sketching style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A2 · Guide drawing capability development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A3 · Develop organisational drawing standards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A4 · Lead technology and method selection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A5 · Inspire traditional and contemporary approaches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 WILL BE ABLE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LO1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Standards and art direction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LO2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Drawing and revision capability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LO3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Standards, storytelling and engagement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LO4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Emerging technology integration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LO5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Exploration and stakeholder inspiration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EDITABLE NATIVE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Autodesk ACP Exam-Domain Weighting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868680" y="1874519"/>
          <a:ext cx="10332720" cy="3794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68680" y="5806440"/>
            <a:ext cx="103327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Official Autodesk AutoCAD ACP domain weighting. Use it to balance review effort; WSQ assessment remains K1–K4 and A1–A5.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PROFESSIONAL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 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Manage the drawing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Communicate through annotation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Author and revise content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Govern design output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Coordinate and lead change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BEFORE THE FINAL PAPERS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Individual, open-book assessment using approved course materials.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Place phones and other materials under the table.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No discussion, photos or recording of assessment scripts.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Use black/blue pen; no liquid paper or correction tape.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Answer in your own words and submit through LMS/TMS.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 requires competence in every required criterion.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OPEN 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Final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Written Assessment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Practical Performance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Written Assessment (WA-SAQ) — 4 open-ended questions covering K1–K4, 60 minutes, open book.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Knowledge evidence from slides and Learner Guide.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Four questions retain the original WA count.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Practical Performance (PP) — 5 hands-on tasks covering A1–A5, 120 minutes, open book.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Practical evidence from the sink layout workflow.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Five tasks retain the original PP count and A1–A5 mapping.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WA → PP →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and Sign-off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briefing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WA-SAQ · 60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PP · 120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Assessor decision: C / NYC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Feedback, sign-off or appeal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DOMAIN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Application and Drawing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Standards · units · UCS · layers · properties · drawing health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DRAWING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A reliable drawing begins with declared rules.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Units, origin, naming, layers and revision status are part of the design — not afterthoughts.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BEFORE AUTHORING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Project Setup — Six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Purpose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decision or deliverable must the drawing support?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Units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Length, precision, insertion scale and angle convention.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Origin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World coordinates plus named project UCS where required.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Layers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Names, properties, plot behaviour and ownership.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Objects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Fit-for-purpose types with measurable properties.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Revision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Status, filename, change record and evidence.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THREE DIFFERENT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Units, Scale and Precision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What each controls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Professional checks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Drawing units describe model-space values.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Insertion scale controls how referenced content enters.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Viewport scale controls model-to-paper presentation.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Check a known dimension before editing.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Never fix a wrong model scale with a plot-scale workaround.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Record precision appropriate to the decision.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COORDINATE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User Coordinate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Start in World UCS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Define task orientation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Name and restore the UCS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Create/edit with controlled axes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Return to World and verify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ORGANISE BY FUNCTION AND PURPOSE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Layer Governance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Properties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Colour, linetype, lineweight, transparency and plot style.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Visibility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Off for temporary visibility; Freeze for regeneration/performance.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Protection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Lock prevents accidental edits while keeping context visible.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Ownership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Xref prefixes and layer naming reveal source and responsibility.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Filters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Property and group filters focus complex drawings.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States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Named combinations restore review, plot or coordination views.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TWO LEVELS OF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Layer States vs Viewport Overrides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Layer state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Viewport override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Layer states capture a reusable visibility/property condition.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them for named working, coordination and presentation modes.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Restore globally or selectively.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Viewport overrides change presentation in one layout viewport.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them to emphasise sheet-specific information.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Keep global layer properties intact.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FIND THE RIGHT OBJECTS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Object Queries and Selection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Properties palette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Read and edit complete object properties.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Quick Select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Filter by object type and property.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Select Similar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Reuse the current object's property pattern.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Filter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Build compound selection criteria.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LIST / ID / DIST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Verify coordinates, geometry and measurement.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Hide / Isolate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Reduce visual complexity temporarily.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CONTROLLED CLEANUP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Drawing Health Maintenance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Inspect warnings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Audit the database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Purge confirmed unused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Resolve references and paths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Save a new revision and verify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LO1 · K1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01 — Drawing Standards and Project 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5669280" cy="41605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ab-refere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08835"/>
            <a:ext cx="5394960" cy="3371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5687568"/>
            <a:ext cx="5394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JPEG brief supplied in the individual lab folder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20840" y="1828800"/>
            <a:ext cx="4709160" cy="416052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95160" y="2084831"/>
            <a:ext cx="4160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DECISIONS TO PROVE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2606040"/>
            <a:ext cx="406908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Declare units, origin and standards before editing.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Use measurable checks instead of visual guesswork.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Submit setup and drawing-health evidence.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5102352"/>
            <a:ext cx="40690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Outcome: </a:t>
            </a:r>
            <a:r>
              <a:rPr sz="1200" b="0">
                <a:solidFill>
                  <a:srgbClr val="161B26"/>
                </a:solidFill>
                <a:latin typeface="Arial"/>
              </a:rPr>
              <a:t>A standards-ready furniture plan with a completed drawing-standard record and verified setup evidence.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LO2 · K2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02 — Layers, Object Management and Revision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5669280" cy="41605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ab-refere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08835"/>
            <a:ext cx="5394960" cy="3371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5687568"/>
            <a:ext cx="5394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JPEG brief supplied in the individual lab folder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20840" y="1828800"/>
            <a:ext cx="4709160" cy="416052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95160" y="2084831"/>
            <a:ext cx="4160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DECISIONS TO PROVE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2606040"/>
            <a:ext cx="406908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Organise complexity with filters and layer states.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Use overrides without damaging global standards.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Record controlled revision evidence.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5102352"/>
            <a:ext cx="40690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Outcome: </a:t>
            </a:r>
            <a:r>
              <a:rPr sz="1200" b="0">
                <a:solidFill>
                  <a:srgbClr val="161B26"/>
                </a:solidFill>
                <a:latin typeface="Arial"/>
              </a:rPr>
              <a:t>A revised furniture plan with reusable layer states, filters and a change log.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DOMAIN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Design Annotation and Detailing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Text · dimensions · hatches · multileaders · tables · annotative scale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DESIGN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Annotation is the voice of the drawing.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A good sheet controls what the stakeholder notices, understands and decides next.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DRAWING AS 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Stakeholder Reading Order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Orient with title and key 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Read primary dimensions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Follow callouts to decisions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Check schedules and notes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Confirm revision and approval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REUSABLE STANDARDS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Annotation Style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Text style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Font, height policy, width and readability.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Dimension style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Units, precision, symbols and placement.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Multileader style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Arrow, landing and content hierarchy.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Table style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Title, header, data rows and borders.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Hatch settings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Pattern, scale, angle and origin.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Annotative properties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object, multiple paper-readable scales.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MEASUREMENT WITH MEANING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Choose the Dimension by Intent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Linear / aligned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Horizontal, vertical or true-length distances.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Angular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relationship between lines or features.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Radial / diameter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Circular geometry and manufacturing intent.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Ordinate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Coordinate-based production control.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Arc length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Measured curved distance.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Quick Dimension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Efficient chains that still require review.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TRUSTWORTHY DETAILING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Associativity and Overrides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Keep data connected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Control exceptions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Associative dimensions update with geometry.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Reassociate after controlled geometry changes.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fields when text should reflect a live property.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Avoid typing over measured values.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Treat exceptions as documented deviations.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Check every override in plot preview.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CHANGE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Hatches, Revision Clouds and Wipeouts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Hatch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Communicate material, section or scope — not decoration.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Origin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Align patterns so similar surfaces read consistently.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Revision cloud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Make the changed area visible and bounded.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Delta / note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State what changed and why it matters.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Wipeout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Improve local legibility without concealing required information.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Compare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Confirm added, removed and modified content.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READABLE ON PAPER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Annotative 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How it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Quality checks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One text or symbol can support several intended viewport scales.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active annotation scale controls what you create and see.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Add only scales required by the drawing set.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Review in paper space at the target scale.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Check viewport annotation visibility.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Avoid duplicate manual copies with inconsistent text.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FROM OBJECTS TO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Tables and Drawing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Define the information 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Create a table hierarchy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Link fields or attributes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Validate units and ownership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Update and publish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LO3 · K3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03 — Annotation Standards and Stakeholder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5669280" cy="41605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ab-refere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08835"/>
            <a:ext cx="5394960" cy="3371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5687568"/>
            <a:ext cx="5394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JPEG brief supplied in the individual lab folder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20840" y="1828800"/>
            <a:ext cx="4709160" cy="416052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95160" y="2084831"/>
            <a:ext cx="4160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DECISIONS TO PROVE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2606040"/>
            <a:ext cx="406908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Create reusable annotation styles.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Lead the stakeholder through a deliberate reading order.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Make one revision visible and reviewable.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5102352"/>
            <a:ext cx="40690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Outcome: </a:t>
            </a:r>
            <a:r>
              <a:rPr sz="1200" b="0">
                <a:solidFill>
                  <a:srgbClr val="161B26"/>
                </a:solidFill>
                <a:latin typeface="Arial"/>
              </a:rPr>
              <a:t>An annotated plan with text, dimensions, multileaders, hatches and revision communication governed by named styles.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LO3 · K3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04 — Dimensions, Multileaders and Data Tables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5669280" cy="41605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ab-refere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08835"/>
            <a:ext cx="5394960" cy="3371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5687568"/>
            <a:ext cx="5394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JPEG brief supplied in the individual lab folder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20840" y="1828800"/>
            <a:ext cx="4709160" cy="416052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95160" y="2084831"/>
            <a:ext cx="4160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DECISIONS TO PROVE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2606040"/>
            <a:ext cx="406908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Use fit-for-purpose dimension types.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Coordinate leaders and component schedules.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Prove readability in plot preview.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5102352"/>
            <a:ext cx="40690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Outcome: </a:t>
            </a:r>
            <a:r>
              <a:rPr sz="1200" b="0">
                <a:solidFill>
                  <a:srgbClr val="161B26"/>
                </a:solidFill>
                <a:latin typeface="Arial"/>
              </a:rPr>
              <a:t>A review sheet with validated dimensions, labels and a structured furniture/component table.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DOMAIN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Author and Edit Drawing Content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Advanced geometry · precision editing · blocks · attributes · reuse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AUTHORING WITH INTENT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Object type is a design decision.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Choose geometry by how it must behave when selected, measured, revised and reused.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CHOOSE BY BEHAVIOUR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Advanced Drawing Objects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Polyline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Connected line/arc segments as one editable object.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Spline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Smooth fit or control-vertex curve for refined profiles.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Polygon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Regular closed polyline from centre/radius or edge.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Region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Closed 2D area with properties and Boolean operations.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Xline / Ray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Infinite or semi-infinite construction reference.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Multiline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Parallel elements governed by a named style.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CONNECTED VS CONTROLLED CURVES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Polylines and Splines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Polyline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Spline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Polylines stay connected through grip editing.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Width, arcs and linetype generation live on one object.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Closed polylines support area, regions and extrusion.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Fit splines pass through points; CV splines are shaped by a control frame.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fewer, deliberate control points.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Choose based on revision control, not smooth appearance alone.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ACCURACY IS A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Precision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Set units and UCS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Choose snap/track modes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Enter coordinates or distances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Edit with grips and constraints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Measure and verify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SELECT THE LEAST DESTRUCTIVE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Modification Families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Transform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Move, Copy, Rotate, Mirror, Scale and Stretch.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Parallel / boundary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Offset, Trim, Extend, Break and Join.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Corner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Fillet and Chamfer with deliberate radii/distances.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Pattern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Rectangular, polar and path arrays.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Structure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Explode only when object structure must change.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Grips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Direct manipulation with object-specific options.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EDIT RELATIONSHIPS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Associative Arrays and Multifunctional Grips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Associative arrays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Multifunctional grips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Arrays retain count, spacing, angle or path relationships.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Edit the array as one parametric collection.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Explode only for a documented downstream need.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Grip menus expose object-specific actions.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Hover to identify Stretch, Add, Remove, Convert and other modes.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Dynamic input shows values near the cursor.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2D 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Regions and Boolean Operations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Create closed loops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Convert to regions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Inspect area and centroid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Union, subtract or intersect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Retain a pre-Boolean copy for review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FLAT GEOMETRY · 3D APPEARANCE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2D Isometric Drafting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Isoplane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Left, Top or Right controls the active snap plane.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Cycle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F5 or Ctrl+E changes isoplane.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Isocircle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Ellipse option available only in isometric drafting.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Limitation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 isometric drawing is 2D representation, not a 3D model.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Dimensioning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aligned/oblique techniques deliberately.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Communication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Apply when a fast pictorial view supports the audience.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REUSE VS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Blocks vs Groups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Block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Group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block is one reusable definition with many instances.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Edit the definition to update its instances.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Attributes carry instance-specific data.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group is a temporary selection relationship between existing objects.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It does not create a reusable definition.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it for coordinated selection, not standard content.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DRAWING CONTENT AS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Attributes to Data Extraction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Define the information schema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Create attributes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Insert and populate blocks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Synchronise controlled changes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Extract a schedule and validate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LO1–LO2 · K1, K2 · A1,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05 — Advanced Geometry and Precision Editing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5669280" cy="41605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ab-refere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08835"/>
            <a:ext cx="5394960" cy="3371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5687568"/>
            <a:ext cx="5394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JPEG brief supplied in the individual lab folder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20840" y="1828800"/>
            <a:ext cx="4709160" cy="416052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95160" y="2084831"/>
            <a:ext cx="4160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DECISIONS TO PROVE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2606040"/>
            <a:ext cx="406908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Use object types that suit revision behaviour.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Combine precision tools into a repeatable system.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Verify the final 2D and isometric geometry.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5102352"/>
            <a:ext cx="40690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Outcome: </a:t>
            </a:r>
            <a:r>
              <a:rPr sz="1200" b="0">
                <a:solidFill>
                  <a:srgbClr val="161B26"/>
                </a:solidFill>
                <a:latin typeface="Arial"/>
              </a:rPr>
              <a:t>A precise 2D component study plus an isometric view using fit-for-purpose object types.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LO4 · K4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06 — Blocks, Attributes and Data Extraction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5669280" cy="41605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ab-refere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08835"/>
            <a:ext cx="5394960" cy="3371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5687568"/>
            <a:ext cx="5394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JPEG brief supplied in the individual lab folder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20840" y="1828800"/>
            <a:ext cx="4709160" cy="416052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95160" y="2084831"/>
            <a:ext cx="4160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DECISIONS TO PROVE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2606040"/>
            <a:ext cx="406908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Design reusable block definitions.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Carry instance data through attributes.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Extract and validate a component schedule.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5102352"/>
            <a:ext cx="40690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Outcome: </a:t>
            </a:r>
            <a:r>
              <a:rPr sz="1200" b="0">
                <a:solidFill>
                  <a:srgbClr val="161B26"/>
                </a:solidFill>
                <a:latin typeface="Arial"/>
              </a:rPr>
              <a:t>A small furniture block library with attributes and an extracted component schedule.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DOMAIN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Configure and Manage Design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Layouts · viewports · page setup · plotting · publishing · eTransmit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9E0B"/>
                </a:solidFill>
                <a:latin typeface="Arial"/>
              </a:rPr>
              <a:t>SHEET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Model once. Communicate through controlled sheets.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Paper space governs view, scale, title block and output — without duplicating model geometry.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AUTHORING AND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Model Space vs Paper Space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Model space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Paper space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Model at full size in agreed drawing units.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Create and revise design geometry once.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Maintain discipline layers and object properties.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Compose sheets at paper size.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Control views through scaled viewports.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Apply title blocks, page setups and sheet-specific emphasis.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REPEATABLE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Layout and Page 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Create/rename layout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Select device or PDF 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Choose paper and orientation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Set plot area, scale and style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Preview and assign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WINDOWS INTO 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Viewport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View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Top, Front, Right, Isometric or a named view.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Scale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Apply an approved custom or standard scale.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Visual style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2D wireframe, Hidden, Shaded or Realistic by purpose.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Layer override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Emphasise the sheet without changing the model.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Lock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Prevent accidental pan/zoom after approval.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Annotation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Confirm readability at the viewport scale.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EDITABLE NATIVE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Output Quality Priorities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868680" y="1874519"/>
          <a:ext cx="10332720" cy="3794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68680" y="5806440"/>
            <a:ext cx="103327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Conceptual 1–5 quality-impact comparison for discussion; values are instructional, not measured project data.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MULTI-SHEET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Publish a Drawing Set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Order current layouts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Apply page setups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Configure PDF options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Preview every sheet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Publish and inspect the PDF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COMPLETE HANDOVER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eTransmit a Portable Package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Resolve dependencies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Choose path handling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Include fonts/plot styles as permitted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Create ZIP and report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Open-test from the package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LO3 · K3 · A1, A2,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07 — Layouts, Viewports and Page Setups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5669280" cy="41605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ab-refere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08835"/>
            <a:ext cx="5394960" cy="3371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5687568"/>
            <a:ext cx="5394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JPEG brief supplied in the individual lab folder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20840" y="1828800"/>
            <a:ext cx="4709160" cy="416052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95160" y="2084831"/>
            <a:ext cx="4160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DECISIONS TO PROVE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2606040"/>
            <a:ext cx="406908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Create ISO A1, A2 and A3 sheets.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Control views, scales, visual styles and locks.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Prove title-block and page-setup consistency.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5102352"/>
            <a:ext cx="40690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Outcome: </a:t>
            </a:r>
            <a:r>
              <a:rPr sz="1200" b="0">
                <a:solidFill>
                  <a:srgbClr val="161B26"/>
                </a:solidFill>
                <a:latin typeface="Arial"/>
              </a:rPr>
              <a:t>A coordinated three-sheet sink drawing set that mirrors the original practical-assessment workflow.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LO3–LO4 · K3, K4 · A3,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08 — Publish, Plot and eTransmit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5669280" cy="41605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ab-refere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08835"/>
            <a:ext cx="5394960" cy="3371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5687568"/>
            <a:ext cx="5394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JPEG brief supplied in the individual lab folder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20840" y="1828800"/>
            <a:ext cx="4709160" cy="416052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95160" y="2084831"/>
            <a:ext cx="4160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DECISIONS TO PROVE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2606040"/>
            <a:ext cx="406908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Publish only current, ordered layouts.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Inspect each PDF sheet at full size.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Verify the eTransmit inventory and portability.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5102352"/>
            <a:ext cx="40690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Outcome: </a:t>
            </a:r>
            <a:r>
              <a:rPr sz="1200" b="0">
                <a:solidFill>
                  <a:srgbClr val="161B26"/>
                </a:solidFill>
                <a:latin typeface="Arial"/>
              </a:rPr>
              <a:t>A published PDF sheet set and a verified eTransmit package with a transmittal report.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DOMAIN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Collaboration and Emerging Workflows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Xrefs · underlays · compare · shared views · tool palettes · automation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COORDINATION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Collaboration works when ownership stays visible.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Reference other teams' work, manage paths and communicate changes without silently duplicating source geometry.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EXTERNAL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Attach vs Overlay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Attach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Overlay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Attach allows nested references to propagate into the host.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when downstream visibility is intended and controlled.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Document nesting and ownership.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Overlay prevents the reference from propagating when the host is referenced again.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to avoid circular or unwanted nesting.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Often safer for discipline coordination.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PORTABILITY AND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Reference Path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Relative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Portable within a known project folder structure.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Full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Exact location but fragile when moved between machines.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No path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Search-based and ambiguous outside a disciplined package.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Repath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Repair links without changing insertion or scale.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Unload / reload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Control performance while retaining the definition.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eTransmit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Package references and document path handling.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LAYER OWNERSHIP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Coordinate Xref Layers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Read the source prefix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Keep global ownership intact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Apply host review overrides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Avoid binding without a requirement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Record the coordination decision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REFERENCE, DO NOT DUPLICATE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Underlays and Linked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PDF underlay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Reference issued sheets without redrawing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Raster image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Trace, compare or communicate using controlled imagery.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Clip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Limit the visible region without modifying the source.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Fade / contrast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Keep context visible without overpowering host content.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Hyperlink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Connect an object to approved external information.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Path check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Verify links from the final package location.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CHANGE VISIBILITY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Drawing Compare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Choose baseline and revision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Generate added/removed/modified overlays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Filter noise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Review decision-critical changes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Record response and close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TECHNOLOGY MUST SERVE THE ORGANISATION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Evaluate Emerging Workflows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Shared Views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Browser-based review without handing over editable source.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Markup Import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Bring review comments back into the drawing context.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Data extraction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Turn block/attribute data into schedules and QA evidence.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Tool palettes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Standardise approved commands, blocks and hatches.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Automation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scripts and routines for repeatable, governed tasks.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Cloud coordination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Assess permissions, ownership, revision and audit trail.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A4 · A5 DECISION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Technology Selection Scorecard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Risk and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Value and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Accuracy and standards fit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Interoperability and path portability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Revision traceability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Security and access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Time saved across repeated work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Learning and support effort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Evidence and auditability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Ability to scale with organisational growth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LO4 · K4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09 — Xrefs, Underlays and Drawing 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5669280" cy="41605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ab-refere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08835"/>
            <a:ext cx="5394960" cy="3371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5687568"/>
            <a:ext cx="5394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JPEG brief supplied in the individual lab folder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20840" y="1828800"/>
            <a:ext cx="4709160" cy="416052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95160" y="2084831"/>
            <a:ext cx="4160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DECISIONS TO PROVE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2606040"/>
            <a:ext cx="406908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Preserve ownership through controlled references.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Use relative paths and host-only review overrides.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Classify changes and stakeholder response.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5102352"/>
            <a:ext cx="40690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Outcome: </a:t>
            </a:r>
            <a:r>
              <a:rPr sz="1200" b="0">
                <a:solidFill>
                  <a:srgbClr val="161B26"/>
                </a:solidFill>
                <a:latin typeface="Arial"/>
              </a:rPr>
              <a:t>A host coordination drawing with controlled Xrefs/underlays and a documented comparison review.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LO1–LO5 · K1–K4 · A1–A5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10 — Integrated Sink Documentation Capstone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5669280" cy="41605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ab-refere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08835"/>
            <a:ext cx="5394960" cy="3371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5687568"/>
            <a:ext cx="5394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JPEG brief supplied in the individual lab folder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20840" y="1828800"/>
            <a:ext cx="4709160" cy="416052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95160" y="2084831"/>
            <a:ext cx="4160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DECISIONS TO PROVE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2606040"/>
            <a:ext cx="406908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Integrate standards, layouts and component data.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Publish and package a complete sink drawing set.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Lead a concise stakeholder approval story.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5102352"/>
            <a:ext cx="40690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Outcome: </a:t>
            </a:r>
            <a:r>
              <a:rPr sz="1200" b="0">
                <a:solidFill>
                  <a:srgbClr val="161B26"/>
                </a:solidFill>
                <a:latin typeface="Arial"/>
              </a:rPr>
              <a:t>A standards-based sink drawing set with layouts, title blocks, viewports, component table, publish package and review evidence.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Course Summary and Assessment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FROM BRIEF TO HANDOVER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Integrated Professional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Define standards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Author and revise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Annotate and tell the story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Publish controlled sheets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Coordinate, review and improve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PROVE THE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Evidence Quality Checklist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Show the setting and the visible result together.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Use filenames that identify lab, learner and revision.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Verify units, coordinates, scales and paths explicitly.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Retain current DWG plus published/package outputs.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Capture acceptance criteria, not every click.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Explain the decision behind the tool choice.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WA-SAQ + 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Final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•  Written Assessment (WA-SAQ) — 4 open-ended questions covering K1–K4, 60 minutes, open book.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•  Practical Performance (PP) — 5 hands-on tasks covering A1–A5, 120 minutes, open book.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•  Question papers retain the original instrument type, counts, timings and K/A coverage.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•  Answer keys remain trainer-only and are never linked to the LMS or public GitHub repository.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COMPLETE EVERY STAGE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and Sign-off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attendance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WA-SAQ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Practical Performance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Assessor decision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Feedback, sign-off or appeal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MANDATORY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— Final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AM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Completed for Day 4.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PM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Completed after lunch.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Assessment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Completed before the final papers.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TRAQOM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Submit the required feedback survey.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AFTER THE COURSE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Support and Next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Course support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Professional development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Revisit the detailed Learner Guide and individual lab folders.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only files and references authorised for your project.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Request post-course consultation through Tertiary Infotech.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Build a portfolio drawing set with standards evidence.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Practise explaining design decisions without relying on memorised clicks.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Continue with related Autodesk design and BIM workflows.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AUTOCAD DESIGN AND DRAFTING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Draft with intent. Revise with control. Publish with confidence.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Autodesk-ACP-AutoCAD-Design-and-Drafting  ·  TGS-2023036004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