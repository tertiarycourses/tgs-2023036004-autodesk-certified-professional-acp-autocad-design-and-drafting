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exam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Application &amp;
drawing mgmt</c:v>
                </c:pt>
                <c:pt idx="1">
                  <c:v>Annotation &amp;
detailing</c:v>
                </c:pt>
                <c:pt idx="2">
                  <c:v>Author &amp; edit
content</c:v>
                </c:pt>
                <c:pt idx="3">
                  <c:v>Design
output</c:v>
                </c:pt>
                <c:pt idx="4">
                  <c:v>Collaboration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20</c:v>
                </c:pt>
                <c:pt idx="2">
                  <c:v>29</c:v>
                </c:pt>
                <c:pt idx="3">
                  <c:v>16</c:v>
                </c:pt>
                <c:pt idx="4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34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on sheet trust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Scale</c:v>
                </c:pt>
                <c:pt idx="1">
                  <c:v>Clipping</c:v>
                </c:pt>
                <c:pt idx="2">
                  <c:v>Lineweight</c:v>
                </c:pt>
                <c:pt idx="3">
                  <c:v>References</c:v>
                </c:pt>
                <c:pt idx="4">
                  <c:v>Revision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6.0"/>
          <c:min val="0.0"/>
        </c:scaling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hero-v1.png"/>
          <p:cNvPicPr>
            <a:picLocks noChangeAspect="1"/>
          </p:cNvPicPr>
          <p:nvPr/>
        </p:nvPicPr>
        <p:blipFill>
          <a:blip r:embed="rId2"/>
          <a:srcRect t="2957" b="2957"/>
          <a:stretch>
            <a:fillRect/>
          </a:stretch>
        </p:blipFill>
        <p:spPr>
          <a:xfrm>
            <a:off x="0" y="201168"/>
            <a:ext cx="12191695" cy="64556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01168"/>
            <a:ext cx="5897880" cy="6455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182880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4406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Autodesk Certified Professional (ACP) - AutoCAD Design and Drafting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6227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TGS-2023036004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4243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v9.0  ·  22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44768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— Three Required Check-ins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code at the start of each training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again after lunch when prompted by the trainer.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separate assessment check-in before the final papers.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Maintain at least 75% attendance and complete all prescribed assessments.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Trainer Introduction — What Learners Need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trainer's current role and the kinds of drawings or projects they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Credentials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Relevant AutoCAD, design, adult-learning and industry qualifications.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Examples of production, coordination and output challenges addressed in practice.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How to ask questions, request demonstrations and obtain course follow-up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and Courseware Developer
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courseware developer at Tertiary Infotech Academy.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Doctorate-qualified adult educator with ACTA/DACE training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software workflows, design communication, automation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APPROACH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Connect design intent to measurable standards, practice evidence and stakeholder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STUDIO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kinds of drawings do you create or review?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Which AutoCAD workflows are already familiar?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Challenge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Where do revisions, standards or coordination currently fail?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professional outcome should this course unlock?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PROFESSIONAL 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mobile devices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different professional viewpoints.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only authorised project files and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Keep evidence of your own work.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LMS/TMS course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Locate the current Courseware 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slides, Learner Guide and 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each lab from its own folder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32 HOURS · 4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Days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Standards and drawing management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Units, UCS, layers, properties and advanced objects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Labs 1–2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Author, edit and annotate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Precision editing, blocks, attributes and annotation systems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Labs 3–6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Output and collaboration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Layouts, page setups, publish, eTransmit and Xrefs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Labs 7–9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4 — Integrate and demonstrate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Sink documentation capstone, evidence review, WA and PP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 10 + final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Design Sketching · BEV-DES-5026-1.1-1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TSC Coverage — Knowledge and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K1 · Emerging design visualization standards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K2 · Revision methods for 2D and 3D drawings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K3 · Storytelling and stakeholder engagement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K4 · Emerging drawing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 · Define art direction and sketching style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A2 · Guide drawing capability development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 · Develop organisational drawing standards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 · Lead technology and method selection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A5 · Inspire traditional and contemporary approaches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Standards and art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Drawing and revision 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Standards, storytelling and engagement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Emerging technology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Exploration and stakeholder inspiration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Autodesk ACP Exam-Domain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1874519"/>
          <a:ext cx="10332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06440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Official Autodesk AutoCAD ACP domain weighting. Use it to balance review effort; WSQ assessment remains K1–K4 and A1–A5.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PROFESSIONAL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Manage the drawing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Communicate through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 and revise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 design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Coordinate and lead change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FINAL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Individual, open-book assessment using approved course materials.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Place phones and other materials under the 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 discussion, photos or recording of assessment scripts.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black/blue pen; no liquid paper or correction tape.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Answer in your own words and submit through LMS/TMS.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 requires competence in every required criterion.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Written Assessment (WA-SAQ) — 4 open-ended questions covering K1–K4, 60 minutes, open book.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Knowledge evidence from slides and Learner Guide.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Four questions retain the original WA 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Practical Performance (PP) — 5 hands-on tasks covering A1–A5, 120 minutes, open book.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Practical evidence from the sink layout workflow.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Five tasks retain the original PP count and A1–A5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WA → PP →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Sign-off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PP · 120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Assessor decision: C / NYC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Feedback, sign-off or 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and Drawing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Standards · units · UCS · layers · properties · drawing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DECEMBER 2025 AUTODESK ACP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1 Coverage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 groups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groups in the official content outline.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Leaf objectives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14 individually traceable exam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Teaching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Intent → decision controls → applied scenario → quality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Visible state, measured result, controlled output and explained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SOFTWARE FEATURE TO PROFESSIONAL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Professional Judgement Lens — Application and Drawing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with the production or stakeholder decision.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least destructive control that preserves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model, sheet, reference and data responsibilities distinct.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in the final output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evidence that another reviewer can reproduce.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why the alternative controls were not selected.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1.1 — Create and manage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1.1.a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and manage layer properties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1.1.b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layer property overrides in layout viewports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1.1.c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manage layer filters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1.1.d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the origin of xref layers from prefixes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1.1.a — Assign and manage layer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Assign and manage layer properties.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consultant drawing arrives with inconsistent object colours and no reliable plotting hierarchy.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LAYER · LINETYPE · SETBYLAYER.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A layer audit shows approved names, ByLayer objects and predictable plotted lineweights.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Direct object overrides conceal standards defects and make global changes unreliable.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Assign and manage layer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functional names that reveal discipline and 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Load only approved linetypes and apply them ByLayer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Coordinate colour, lineweight, transparency and plot style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visibility control from object ownership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Assign and manage layer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consultant drawing arrives with inconsistent object colours and no reliable plotting hierarchy.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functional names that reveal discipline and purpose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Load only approved linetypes and apply them ByLayer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A layer audit shows approved names, ByLayer objects and predictable plotted lineweights.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Direct object overrides conceal standards defects and make global changes unreliable.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1.1.a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Assign and manage layer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1.1.a.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Coordinate colour, lineweight, transparency and plot style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visibility control from object ownership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LAYER · LINETYPE · SETBYLAYER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layer audit shows approved names, ByLayer objects and predictable plotted lineweights.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Direct object overrides conceal standards defects and make global changes unreliable.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1.1.b — Apply layer property overrides in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Apply layer property overrides in layout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coordination sheet needs structural context muted in one viewport but unchanged everywhere else.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VPLAYER · Layer Properties · viewport overrides.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target viewport communicates hierarchy while model-space and other viewport properties remain unchanged.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Global edits made to solve a local presentation issue damage other sheets.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Apply layer property overrides in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Override only the presentation needed for one viewport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VP Freeze from global Freeze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colour, linetype and lineweight overrides deliberately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why the sheet view differs from the model 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Apply layer property overrides in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coordination sheet needs structural context muted in one viewport but unchanged everywhere else.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Override only the presentation needed for one viewport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Distinguish VP Freeze from global Freeze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target viewport communicates hierarchy while model-space and other viewport properties remain unchanged.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Global edits made to solve a local presentation issue damage other sheets.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1.1.b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Apply layer property overrides in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1.1.b.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colour, linetype and lineweight overrides deliberately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Record why the sheet view differs from the model standard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VPLAYER · Layer Properties · viewport overrides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target viewport communicates hierarchy while model-space and other viewport properties remain unchanged.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Global edits made to solve a local presentation issue damage other sheets.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1.1.c — Create and manage layer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manage layer filters.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400-layer drawing must expose only fire-protection layers during 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Layer Properties · property filters · group filters.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filter returns the complete intended set and updates correctly when compliant layers are added.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Ad-hoc hiding creates incomplete reviews and undocumented visibility states.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and manage layer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property filters for rule-based membership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group filters for curated 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Search names before building a permanent filter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filters aligned to the naming convention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and manage layer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400-layer drawing must expose only fire-protection layers during 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property filters for rule-based membership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group filters for curated 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filter returns the complete intended set and updates correctly when compliant layers are added.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Ad-hoc hiding creates incomplete reviews and undocumented visibility states.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1.1.c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and manage layer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1.1.c.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Search names before building a permanent filter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filters aligned to the naming convention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Layer Properties · property filters · group filters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filter returns the complete intended set and updates correctly when compliant layers are added.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Ad-hoc hiding creates incomplete reviews and undocumented visibility states.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1.1.d — Determine the origin of xref layers from prefixes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Determine the origin of xref layers from prefixes.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layer named SITE|A-WALL conflicts with a host layer and the team must locate its owner.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XREF · Layer Properties · BIND/INSERT.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reviewer identifies the source file and whether the content remains live or has been bound.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Editing the wrong source or binding without intent destroys coordination ownership.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1.1.d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Determine the origin of xref layers from prefixes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 the vertical-bar prefix as source drawing ownership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live xref layers from bound names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Avoid renaming away ownership clues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Trace a layer back to its reference before editing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1.1.d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Determine the origin of xref layers from prefixes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layer named SITE|A-WALL conflicts with a host layer and the team must locate its owner.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Read the vertical-bar prefix as source drawing ownership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Distinguish live xref layers from bound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reviewer identifies the source file and whether the content remains live or has been bound.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Editing the wrong source or binding without intent destroys coordination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1.1.d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Determine the origin of xref layers from prefixes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1.1.d.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Avoid renaming away ownership clues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Trace a layer back to its reference before editing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XREF · Layer Properties · BIND/INSERT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reviewer identifies the source file and whether the content remains live or has been bound.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Editing the wrong source or binding without intent destroys coordination ownership.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1.2 — Manage user coordinate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1.2.a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restore a named UCS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1.2.b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UCS origin and 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1.2.a — Create and restore a named UCS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restore a named UCS.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An angled building wing needs repeated orthogonal drafting without rotating the model.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UCS · UCSMAN · PLAN.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named UCS restores the correct origin and axes and produces repeatable coordinates.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An unnamed temporary UCS is easy to lose and can contaminate later geometry.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1.2.a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and restore a named UCS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coordinate systems by workface or project 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Restore a UCS before precision drafting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Pair a UCS with an intentional plan 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Retire obsolete UCS definitions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1.2.a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and restore a named UCS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angled building wing needs repeated orthogonal drafting without rotating the model.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Name coordinate systems by workface or project purpose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Restore a UCS before precision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named UCS restores the correct origin and axes and produces repeatable coordinates.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An unnamed temporary UCS is easy to lose and can contaminate later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1.2.a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and restore a named UCS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1.2.a.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Pair a UCS with an intentional plan 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Retire obsolete UCS definitions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UCS · UCSMAN · PLAN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named UCS restores the correct origin and axes and produces repeatable coordinates.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unnamed temporary UCS is easy to lose and can contaminate later geometry.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1.2.b — Manage UCS origin and rotation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UCS origin and rotation.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fabrication detail is rotated 27 degrees relative to the project grid.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UCS Origin · Object · Z-axis · 3point.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Coordinate readouts and orthogonal input align with the detail while world geometry is preserved.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Changing axes without a visible control point causes sign and angle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1.2.b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Manage UCS origin and rotation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Move the origin near the work to simplify coordinates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Align axes to reliable geometry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least ambiguous UCS construction method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Return to World UCS before handover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1.2.b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Manage UCS origin and rotation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fabrication detail is rotated 27 degrees relative to the project grid.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Move the origin near the work to simplify coordinates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Align axes to reliable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Coordinate readouts and orthogonal input align with the detail while world geometry is preserved.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Changing axes without a visible control point causes sign and angle errors.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1.2.b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Manage UCS origin and rotation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1.2.b.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the least ambiguous UCS construction method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Return to World UCS before handover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UCS Origin · Object · Z-axis · 3point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Coordinate readouts and orthogonal input align with the detail while world geometry is preserved.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Changing axes without a visible control point causes sign and angle errors.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1.3 — Query and manage drawing object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1.3.a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Analyze and modify objects with the Properties palette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1.3.b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Query geometry with MEASUREGEOM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1.3.c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Analyze block quantities with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1.3.a — Analyze and modify objects with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Analyze and modify objects with the Properties palette.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Several selected doors look identical but plot differently.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PROPERTIES · Quick Properties · SETBYLAYER.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property comparison finds the override and restores the intended inheritance without changing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Visual inspection alone misses hidden overrides and object-specific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1.3.a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Analyze and modify objects with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geometric properties from display properties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Recognize ByLayer and ByBlock inheritance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multi-selection to expose common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 *VARIES* as a diagnostic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1.3.a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Analyze and modify objects with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Several selected doors look identical but plot differently.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Separate geometric properties from display properties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Recognize ByLayer and ByBlock inheritance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property comparison finds the override and restores the intended inheritance without changing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Visual inspection alone misses hidden overrides and object-specific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1.3.a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Analyze and modify objects with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1.3.a.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multi-selection to expose common 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Treat *VARIES* as a diagnostic signal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PROPERTIES · Quick Properties · SETBYLAYER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property comparison finds the override and restores the intended inheritance without changing geometry.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Visual inspection alone misses hidden overrides and object-specific values.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1.3.b — Query geometry with MEASUREGEOM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Query geometry with MEASUREGEOM.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reviewer must validate clearances, curve radii and net floor area without adding dimensions.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MEASUREGEOM Quick · Distance · Radius · Angle · Area.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Recorded values match the intended objects, units and boundary interpretation.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Snapping to the wrong point or using an open boundary yields persuasive but wrong measurements.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1.3.b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Query geometry with MEASUREGEOM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the query mode that matches the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Quick for spatial scanning, not final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units and precision before interpreting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Cross-check composite areas and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1.3.b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Query geometry with MEASUREGEOM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reviewer must validate clearances, curve radii and net floor area without adding dimensions.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the query mode that matches the question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Quick for spatial scanning, not final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Recorded values match the intended objects, units and boundary interpretation.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Snapping to the wrong point or using an open boundary yields persuasive but wrong measurements.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1.3.b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Query geometry with MEASUREGEOM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1.3.b.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units and precision before interpreting 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Cross-check composite areas and boundaries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MEASUREGEOM Quick · Distance · Radius · Angle · Area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Recorded values match the intended objects, units and boundary interpretation.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Snapping to the wrong point or using an open boundary yields persuasive but wrong measurements.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1.3.c — Analyze block quantities with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Analyze block quantities with COUNT.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floor plan needs a reliable workstation quantity for procurement.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COUNT · Count palette · count boundary.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count identifies the correct block definition, scope and exceptions.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Exploded or differently named symbols evade the count and understate quantities.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1.3.c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Analyze block quantities with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Count named blocks rather than visual symbols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boundary to isolate 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count errors and overlapping instances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Export or record the result with source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1.3.c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Analyze block quantities with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floor plan needs a reliable workstation quantity for procurement.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Count named blocks rather than visual symbols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a boundary to isolate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count identifies the correct block definition, scope and exceptions.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Exploded or differently named symbols evade the count and understate quantities.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1.3.c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Analyze block quantities with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1.3.c.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count errors and overlapping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Export or record the result with source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COUNT · Count palette · count boundary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count identifies the correct block definition, scope and exceptions.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Exploded or differently named symbols evade the count and understate quantities.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1.4 — Manage the application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1.4.a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common palette interface behaviours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1.4.b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Customize user-interface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1.4.a — Use common palette interface behaviours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Use common palette interface behaviours.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dual-screen workspace must support layer, property and reference review without obscuring the drawing.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Properties · Layers · Tool Palettes · External References.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workspace keeps critical palettes accessible and the model readable at normal zoom.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Floating palettes can hide geometry, add unnecessary actions and create inconsistent demonstrations.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1.4.a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Use common palette interface behaviours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Dock persistent controls and auto-hide occasional 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Anchor palettes without covering drawing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Resize for readable names and properties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transparency only when the underlying geometry remains legible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1.4.a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Use common palette interface behaviours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dual-screen workspace must support layer, property and reference review without obscuring the drawing.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Dock persistent controls and auto-hide occasional ones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Anchor palettes without covering drawing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workspace keeps critical palettes accessible and the model readable at normal zoom.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Floating palettes can hide geometry, add unnecessary actions and create inconsistent demonstrations.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1.4.a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Use common palette interface behaviours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1.4.a.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Resize for readable names and properties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transparency only when the underlying geometry remains legible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Properties · Layers · Tool Palettes · External References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workspace keeps critical palettes accessible and the model readable at normal zoom.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Floating palettes can hide geometry, add unnecessary actions and create inconsistent demonstrations.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1.4.b — Customize user-interface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Customize user-interface content.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drafting team repeats the same standards commands across every project.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CUI · workspaces · Quick Access Toolbar · tool palettes.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approved workspace exposes the workflow consistently and can be restored on another machine.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Undocumented local customisation disappears during upgrades and fragments team practice.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1.4.b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Customize user-interface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Customize around repeatable work, not personal novelty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workspace layout from command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enterprise-controlled resources where available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Document and export critical customisation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1.4.b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Customize user-interface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drafting team repeats the same standards commands across every project.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Customize around repeatable work, not personal novelty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Separate workspace layout from command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approved workspace exposes the workflow consistently and can be restored on another machine.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Undocumented local customisation disappears during upgrades and fragments team practice.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1.4.b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Customize user-interface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1.4.b.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enterprise-controlled resources where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 and export critical customisation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CUI · workspaces · Quick Access Toolbar · tool palettes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approved workspace exposes the workflow consistently and can be restored on another machine.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Undocumented local customisation disappears during upgrades and fragments team practice.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1.5 — Maintain and manage drawing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1.5.a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drawings with AUDIT, RECOVER and RECOVERALL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1.5.b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unused content with purge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1.5.c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Restore temporary files with Drawing Recovery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1.5.a — Maintain drawings with AUDIT, RECOVER and RECOVERALL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Maintain drawings with AUDIT, RECOVER and RECOVERALL.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host drawing crashes on open and contains several external references.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AUDIT · RECOVER · RECOVERALL.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chosen recovery scope matches the failure and the repaired set reopens with references accounted for.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Repairing the host alone can leave corrupt dependencies and incomplete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1.5.a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Maintain drawings with AUDIT, RECOVER and RECOVERALL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AUDIT when the drawing opens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RECOVER when the drawing cannot open normally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RECOVERALL when references also need repair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 a pre-repair copy and review the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1.5.a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Maintain drawings with AUDIT, RECOVER and RECOVERALL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host drawing crashes on open and contains several external references.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AUDIT when the drawing opens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RECOVER when the drawing cannot open normally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chosen recovery scope matches the failure and the repaired set reopens with references accounted for.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Repairing the host alone can leave corrupt dependencies and incomplete evidence.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1.5.a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Maintain drawings with AUDIT, RECOVER and RECOVERALL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1.5.a.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RECOVERALL when references also need repair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Preserve a pre-repair copy and review the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AUDIT · RECOVER · RECOVERALL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chosen recovery scope matches the failure and the repaired set reopens with references accounted for.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Repairing the host alone can leave corrupt dependencies and incomplete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1.5.b — Manage unused content with purge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unused content with purge tools.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template-derived drawing is bloated by unused blocks, layers and styles.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PURGE · -PURGE · Regapps.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Cleanup removes unused definitions without affecting visible or referenced content.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Aggressive purge can remove resources expected later in the production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1.5.b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Manage unused content with purge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purgeable definitions before removing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nested purge when dependencies are understood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 registered applications separately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size and reopen behaviour after cleanup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1.5.b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Manage unused content with purge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template-derived drawing is bloated by unused blocks, layers and styles.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Inspect purgeable definitions before removing them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nested purge when dependencies are understood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Cleanup removes unused definitions without affecting visible or referenced content.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Aggressive purge can remove resources expected later in the production workflow.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1.5.b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Manage unused content with purge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1.5.b.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Treat registered applications separately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size and reopen behaviour after cleanup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PURGE · -PURGE · Regapps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Cleanup removes unused definitions without affecting visible or referenced content.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Aggressive purge can remove resources expected later in the production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1.5.c — Restore temporary files with Drawing Recovery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Restore temporary files with Drawing Recovery Manager.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AutoCAD closes unexpectedly after substantial unsaved work.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DRAWINGRECOVERY · autosave · backup files.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chosen recovery file contains the latest valid geometry and is saved without overwriting the last approved revision.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Selecting by filename alone can restore an older or incomplete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1.5.c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Restore temporary files with Drawing Recovery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DWG, BAK and SV$ recovery candidates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timestamps and source paths as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and inspect before replacing the production 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Save the recovered result under controlled revision naming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1.5.c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Restore temporary files with Drawing Recovery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AutoCAD closes unexpectedly after substantial unsaved work.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Distinguish DWG, BAK and SV$ recovery candidates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timestamps and source paths as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chosen recovery file contains the latest valid geometry and is saved without overwriting the last approved revision.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Selecting by filename alone can restore an older or incomplete state.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1.5.c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Restore temporary files with Drawing Recovery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1.5.c.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 and inspect before replacing the production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Save the recovered result under controlled revision naming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DRAWINGRECOVERY · autosave · backup files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chosen recovery file contains the latest valid geometry and is saved without overwriting the last approved revision.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Selecting by filename alone can restore an older or incomplete state.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AutoCAD User Interface — Application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Application button opens the file-level menu: create, open and save drawings.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Audit, recover and purge a drawing file when it needs repair or cleanup.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Print or publish a file, and access the Options dialog for system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Recent documents are listed for quick reopening.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Starting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New Drawing creates a file from the default drawing template (DWT).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Metric drawings use acadiso.dwt; imperial drawings use acad.dwt.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default template is set in the Options dialog.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Templates carry units, styles, layers and title blocks — start right, draw less.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Ribbon Tabs and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ribbon organises tools into tabs (Home, Insert, Annotate, View, Output…).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Each tab is a set of panels — Draw, Modify, Layers, Annotation and more.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Panels expand to reveal less-used tools; pin them open while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Most course commands live on the Home tab's Draw and Modify panels.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Status Bar — Precision Drafting Aids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status bar toggles grid, snap, ortho, polar tracking and object snap.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Ortho constrains the cursor to horizontal/vertical; Polar tracks set angles.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2D object snap picks exact endpoints, midpoints, centres and intersections.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Function keys mirror the toggles: F7 grid · F8 ortho · F9 snap · F10 polar · F3 osnap.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Input and the Command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Dynamic input places a command interface beside the cursor as you draw.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Tooltips show prompts, dimensions and coordinate entry at the crosshair.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command window (Ctrl+9) accepts commands and shows every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Watch the prompts — AutoCAD always tells you what it expects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Workspaces and the Quick Access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Workspaces group menus, toolbars and ribbons for a task: Drafting &amp; Annotation, 3D Basics, 3D Modeling.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course uses Drafting &amp; Annotation throughout.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Quick Access Toolbar sits top-left: New, Open, Save, Undo, Plot.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Frequently used ribbon tools can be added to the Quick Access Toolbar for a controlled workspace.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— Zoom, Pan and the Wheel Mouse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navigation bar provides Pan and the full set of Zoom tools.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ZOOM (Z): Window, All, Extents, Previous, Scale, Object — know them all.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wheel mouse supports continuous zoom, pan and zoom-to-extents navigation.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Navigation changes your view only — it never moves the geometry.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ViewCube and 2D/3D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ViewCube switches between standard and isometric views of the model.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Faces, edges and corners provide standard view targets; free orbit supports inspection.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Set Current View as Home to return to a saved orientation.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 2D drafting you will mostly stay on the Top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Units and Converting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UNITS sets the length type (Decimal, Architectural, Engineering…) and precision.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Angles default to decimal degrees measured anticlockwise from east.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This course draws in millimetres with decimal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 convert a drawing's scale: SCALE → All → base 0,0 → factor (e.g. 25.4).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Home tab's Layers and Properties panels set the most common properties.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Properties palette (PR / Ctrl+1) is the complete list for any selection.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With nothing selected it shows — and sets — the current defaults.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colour, linetype and lineweight ByLayer so layers stay in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Layers — Organising Every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Layers organise objects by function: outlines, hidden lines, centrelines, text, dimensions.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Layer Properties Manager creates layers and sets colour, linetype, lineweight and plot.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new objects are drawn on the current layer (green tick).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Off vs freeze: frozen layers are skipped entirely and speed up big drawings; lock to view but not edit.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DRAWING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reliable drawing begins with declared rules.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Units, origin, naming, layers and revision status are part of the design — not afterthoughts.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AUTHORING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Project Setup — Six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decision or deliverable must the drawing support?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Length, precision, insertion scale and angle convention.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Origin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World coordinates plus named project UCS where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Names, properties, plot behaviour and ownership.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Fit-for-purpose types with measurable properties.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Status, filename, change record and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DIFFERENT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Units, Scale and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each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Drawing units describe model-space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Insertion scale controls how referenced content enters.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Viewport scale controls model-to-paper presentation.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a known dimension before editing.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Never fix a wrong model scale with a plot-scale workaround.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precision appropriate to the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COORDINATE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User Coordinate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in World UCS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task 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 and restore the UCS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Create/edit with controlled axes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Return to World and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ORGANISE BY FUNCTION AND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Colour, linetype, lineweight, transparency and plot style.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 for temporary visibility; Freeze for regeneration/performance.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Lock prevents accidental edits while keeping context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Xref prefixes and layer naming reveal source and responsibility.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Filters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Property and group filters focus complex drawings.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combinations restore review, plot or coordination views.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TWO LEVELS OF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 States vs Viewport Overrides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Layer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Viewport override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Layer states capture a reusable visibility/property condition.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them for named working, coordination and presentation modes.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Restore globally or selectively.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Viewport overrides change presentation in one layout viewport.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them to emphasise sheet-specific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global layer properties intact.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FIND THE RIGHT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Queries and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Properties palette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and edit complete object properties.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Quick Select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Filter by object type and property.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 Similar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Reuse the current object's property pattern.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compound selection criteria.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LIST / ID / DIST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coordinates, geometry and measurement.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Hide / Isolate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visual complexity temporarily.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CONTROLLED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Health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 the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Purge confirmed unused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Resolve references and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Save a new revision and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 — Drawing Standards and Project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Declare units, origin and standards before editing.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measurable checks instead of visual guesswork.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Submit setup and drawing-health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standards-ready furniture plan with a completed drawing-standard record and verified setup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02 — Layers, Object Management and Revision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Organise complexity with filters and layer states.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overrides without damaging global standards.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Record controlled revision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revised furniture plan with reusable layer states, filters and a change 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LO1–LO2 · Exam 1.2, 1.4, 1.5 · K1–K2 · A1–A2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— Drawing Environment, UCS and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Configure a repeatable professional workspace.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Restore named coordinate systems deliberately.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Recover and audit without overwriting approved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documented AutoCAD workspace and UCS set plus a recovered, audited and versioned drawing.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Annotation and Detailing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Text · dimensions · hatches · multileaders · tables · annotative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DECEMBER 2025 AUTODESK ACP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2 Coverage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 groups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groups in the official content outline.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Leaf objectives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individually traceable exam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Teaching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Intent → decision controls → applied scenario → quality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Visible state, measured result, controlled output and explained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SOFTWARE FEATURE TO PROFESSIONAL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Professional Judgement Lens — Design Annotation and Detailing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with the production or stakeholder decision.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least destructive control that preserves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model, sheet, reference and data responsibilities distinct.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in the final output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evidence that another reviewer can reproduce.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why the alternative controls were not selected.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2.1 — Create and apply annotation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2.1.a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Create, manage and apply annotation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2.1.b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Create, manage and apply table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2.1.a — Create, manage and apply annotation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Create, manage and apply annotation styles.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multi-sheet set contains mixed fonts, arrowheads and leader landings.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STYLE · DIMSTYLE · MLEADERSTYLE.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Named styles produce a consistent hierarchy and update dependent annotations predictably.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Local overrides make standards drift invisible and expensive to correct.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2.1.a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Create, manage and apply annotation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text, dimension and multileader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meaningful style names and documented sizes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Prefer style changes over object overrides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Validate appearance at intended plotted scales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2.1.a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Create, manage and apply annotation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multi-sheet set contains mixed fonts, arrowheads and leader landings.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Separate text, dimension and multileader governance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meaningful style names and documented sizes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Named styles produce a consistent hierarchy and update dependent annotations predictably.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Local overrides make standards drift invisible and expensive to correct.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2.1.a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Create, manage and apply annotation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2.1.a.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style changes over object overrides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Validate appearance at intended plotted scales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STYLE · DIMSTYLE · MLEADERSTYLE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styles produce a consistent hierarchy and update dependent annotations predictably.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Local overrides make standards drift invisible and expensive to correct.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2.1.b — Create, manage and apply table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Create, manage and apply table styles.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component schedule must remain readable after rows are added and data refreshed.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TABLESTYLE · cell styles · borders.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style preserves hierarchy, alignment and borders across the whole table.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Manual cell formatting creates inconsistent updates and broken reading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2.1.b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Create, manage and apply table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title, header and data cell roles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text, fill, alignment and borders by 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table direction for the sheet reading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numeric precision aligned with source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2.1.b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Create, manage and apply table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component schedule must remain readable after rows are added and data refreshed.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Define title, header and data cell roles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Control text, fill, alignment and borders by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style preserves hierarchy, alignment and borders across the whole table.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Manual cell formatting creates inconsistent updates and broken reading order.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2.1.b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Create, manage and apply table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2.1.b.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table direction for the sheet reading order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numeric precision aligned with source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TABLESTYLE · cell styles · borders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style preserves hierarchy, alignment and borders across the whole table.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 cell formatting creates inconsistent updates and broken reading order.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2.2 — Apply annotative scaling to design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2.2.a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manage drawing scales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2.2.b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scales assigned to annotative objects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2.2.c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scale positions of annotative objects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2.2.d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Display annotative objects correctly in viewports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2.2.a — Create and manage drawing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manage drawing scales.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drawing accumulated hundreds of scales from external references.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SCALELISTEDIT · annotation scale list.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cleaned list retains required metric or imperial ratios and supports current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Deleting an active scale or mixing unit conventions breaks annotation display.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and manage drawing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scales appropriate to project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 duplicate or imported xref scales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object scale from viewport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custom scales so their ratio is unambiguous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2.2.a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and manage drawing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drawing accumulated hundreds of scales from external references.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Keep scales appropriate to project units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Remove duplicate or imported xref scales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cleaned list retains required metric or imperial ratios and supports current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Deleting an active scale or mixing unit conventions breaks annotation display.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and manage drawing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2.2.a.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object scale from viewport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 custom scales so their ratio is unambiguous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SCALELISTEDIT · annotation scale list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cleaned list retains required metric or imperial ratios and supports current viewports.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Deleting an active scale or mixing unit conventions breaks annotation display.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2.2.b — Manage scales assigned to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scales assigned to annotative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note must appear in 1:50 and 1:100 plans but not the 1:20 detail.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OBJECTSCALE · annotative property.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object displays only in intended viewports at a consistent paper height.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Indiscriminate scale assignment clutters sheets and multiplies positions.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Manage scales assigned to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only the scales at which the object should appear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 obsolete scales deliberately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hatch, text, leaders and multileaders together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Avoid using extra scales to compensate for poor placement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2.2.b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Manage scales assigned to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note must appear in 1:50 and 1:100 plans but not the 1:20 detail.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Assign only the scales at which the object should appear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Remove obsolete scales deliberately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object displays only in intended viewports at a consistent paper height.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Indiscriminate scale assignment clutters sheets and multiplies positions.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Manage scales assigned to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2.2.b.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hatch, text, leaders and multileaders 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Avoid using extra scales to compensate for poor placement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OBJECTSCALE · annotative property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object displays only in intended viewports at a consistent paper height.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Indiscriminate scale assignment clutters sheets and multiplies positions.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2.2.c — Manage scale positions of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scale positions of annotative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multileader clears geometry at 1:50 but collides with a wall at 1:100.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ANNORESET · ANNOMONITOR · grip positions.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Each scale position is intentional, readable and traceable to the same annotation content.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Moving one representation without checking others leaves hidden sheet defects.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Manage scale positions of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 each scale position as a controlled 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Synchronize positions when one approved location should govern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separate positions only to prevent collisions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all supported scales before sign-off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2.2.c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Manage scale positions of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multileader clears geometry at 1:50 but collides with a wall at 1:100.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Treat each scale position as a controlled presentation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Synchronize positions when one approved location should govern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Each scale position is intentional, readable and traceable to the same annotation content.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Moving one representation without checking others leaves hidden sheet defects.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Manage scale positions of annotative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2.2.c.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separate positions only to prevent collisions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all supported scales before sign-off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ANNORESET · ANNOMONITOR · grip positions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scale position is intentional, readable and traceable to the same annotation content.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Moving one representation without checking others leaves hidden sheet defects.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2.2.d — Display annotative objects correctly in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Display annotative objects correctly in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Annotations visible in model space disappear from one plotted viewport.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ANNOALLVISIBLE · viewport annotation scale · annotative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viewport shows the intended objects at consistent paper sizes without diagnostic overrides.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Leaving all-visible enabled masks missing scale assignments.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2.2.d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Display annotative objects correctly in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viewport scale to the intended annotation representation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all-visible only as a diagnostic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blocks, hatches, text, leaders and dimensions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Lock approved viewports after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2.2.d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Display annotative objects correctly in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Annotations visible in model space disappear from one plotted viewport.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Match viewport scale to the intended annotation representation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all-visible only as a diagnostic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viewport shows the intended objects at consistent paper sizes without diagnostic overrides.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Leaving all-visible enabled masks missing scale assignments.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2.2.d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Display annotative objects correctly in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2.2.d.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blocks, hatches, text, leaders and 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 approved viewports after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ANNOALLVISIBLE · viewport annotation scale · annotative objects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viewport shows the intended objects at consistent paper sizes without diagnostic overrides.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Leaving all-visible enabled masks missing scale assignments.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2.3 — Add annotations to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2.3.a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modify text, multileaders and dimensions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2.3.b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modify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2.3.a — Create and modify text, multileaders and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modify text, multileaders and dimensions.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fabrication detail needs dimensions, a finish note and a callout to a remote feature.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MTEXT · MLEADER · DIM · grips.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Each annotation type carries the right meaning and remains associative and readable.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Using text as a substitute for measured or linked annotation weakens revision reliability.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2.3.a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 and modify text, multileaders and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the annotation type by communication 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Anchor dimensions to real geometry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leader landing and reading order clear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 content without breaking style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2.3.a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 and modify text, multileaders and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fabrication detail needs dimensions, a finish note and a callout to a remote feature.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the annotation type by communication purpose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Anchor dimensions to real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Each annotation type carries the right meaning and remains associative and readable.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Using text as a substitute for measured or linked annotation weakens revision reliability.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2.3.a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 and modify text, multileaders and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2.3.a.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leader landing and reading order clear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 content without breaking style governance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MTEXT · MLEADER · DIM · grips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annotation type carries the right meaning and remains associative and readable.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Using text as a substitute for measured or linked annotation weakens revision reliability.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2.3.b — Create and modify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modify tables.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room schedule combines controlled headings with values maintained in a spreadsheet.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TABLE · data extraction · data links.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table communicates source ownership and refreshes without losing formatting.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Copy-pasted values become stale while still looking authoritative.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2.3.b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and modify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manual, extracted or linked data by ownership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row and column structure that supports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 style while inserting or deleting cells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Refresh linked content before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2.3.b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and modify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room schedule combines controlled headings with values maintained in a spreadsheet.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manual, extracted or linked data by ownership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row and column structure that supports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table communicates source ownership and refreshes without losing formatting.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Copy-pasted values become stale while still looking authoritative.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2.3.b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and modify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2.3.b.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Preserve style while inserting or deleting cells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Refresh linked content before 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TABLE · data extraction · data links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table communicates source ownership and refreshes without losing formatting.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Copy-pasted values become stale while still looking authoritative.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Multiline text (MTEXT) fills a bounding box; single-line text (TEXT) is quick labels.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text style names a collection of settings: font, height, spacing, justification.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styles once (STYLE) and every note updates when the style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Annotative styles size text automatically to the viewport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 — The Basic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Linear and aligned dimensions measure edges; angular measures between lines.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Radial and diameter dimensions measure arcs and circles, with centre marks.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Arc-length and ordinate dimensions cover curved lengths and datum offsets.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Continue chains dimensions end-to-end; Baseline stacks them from one datum.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 a style controls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Arrowheads, extension lines, text placement, units and tolerances — consistently.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DIMSTYLE → New: name it, set fit, text height and precision for your standard.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the style current before dimensioning; existing dimensions can be updated.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House rule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Never override individual dimension text — fix the style instead.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Multileaders and Revision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multileader is an arrowhead, landing line and note text (or block) in one object.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MLEADER places it; add/remove leader lines and align multiple leaders neatly.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Revision clouds flag changed areas for checking and approval.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Draw a cloud by dragging, corner points — or convert an existing closed object.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PART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Tables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TABLE creates a compound object of rows and columns from a table style.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Type into cells like a spreadsheet; formulas and fields are supported.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DATAEXTRACTION fills a table from block attributes — the bill of materials.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Tables can link to external Excel data and update both ways.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Gradients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HATCH fills enclosed areas with patterns (ANSI31 for sections), solids or gradients.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Pick an internal point — island detection keeps text and holes clear.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Scale and angle make adjacent parts read distinctly in section 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HATCHEDIT changes an existing hatch; hatches stay associative to their boundary.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DESIGN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Annotation is the voice of the drawing.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good sheet controls what the stakeholder notices, understands and decides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DRAWING AS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Reading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Orient with title and key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primary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Follow callouts to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schedules and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revision and 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Annotation Style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Font, height policy, width and readability.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Units, precision, symbols and placement.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Multileader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Arrow, landing and content hierarchy.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Table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Title, header, data rows and borders.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Hatch settings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Pattern, scale, angle and origin.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Annotative 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object, multiple paper-readable scales.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MEASUREMENT WITH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Choose the Dimension by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Linear / aligned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Horizontal, vertical or true-length distances.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Angular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relationship between lines or features.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Radial / diameter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Circular geometry and manufacturing intent.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Ordinate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Coordinate-based production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 length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Measured curved distance.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Quick Dimension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Efficient chains that still require review.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TRUSTWORTHY DETAILING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Associativity and Overrides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Keep data connected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Control exceptions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Associative dimensions update with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Reassociate after controlled geometry changes.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fields when text should reflect a live property.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typing over measured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Treat exceptions as documented deviations.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every override in plot preview.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CHANGE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Hatches, Revision Clouds and Wipeouts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Hatch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Communicate material, section or scope — not decoration.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Origin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Align patterns so similar surfaces read consistently.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Revision cloud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Make the changed area visible and bounded.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Delta / note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what changed and why it matters.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Wipeout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Improve local legibility without concealing required information.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Compare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added, removed and modified content.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READABLE ON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Annotative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Quality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text or symbol can support several intended viewport scales.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active annotation scale controls what you create and see.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Add only scales required by the drawing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in paper space at the target scale.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viewport annotation visibility.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duplicate manual copies with inconsistent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FROM OBJECTS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Tables and Drawing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the information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 table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fields or attributes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 units and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and 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 — Annotation Standards and Stakeholder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reusable annotation styles.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Lead the stakeholder through a deliberate reading order.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Make one revision visible and reviewable.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An annotated plan with text, dimensions, multileaders, hatches and revision communication governed by named styles.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 — Dimensions, Multileaders and Data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fit-for-purpose dimension types.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Coordinate leaders and component schedules.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Prove readability in plot preview.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review sheet with validated dimensions, labels and a structured furniture/component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Exam 2.1–2.3 · K3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12 — Annotation Styles, Scales and Schedules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Govern text, dimension, leader and table styles together.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Control annotative positions at three target scales.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the final schedule in paper 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dimensioned and annotated component sheet with named styles, scale-aware objects and a controlled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Author and Edit Drawing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Advanced geometry · precision editing · blocks · attributes · 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DECEMBER 2025 AUTODESK ACP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3 Coverage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 groups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 groups in the official content outline.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Leaf objectives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15 individually traceable exam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Teaching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Intent → decision controls → applied scenario → quality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Visible state, measured result, controlled output and explained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SOFTWARE FEATURE TO PROFESSIONAL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Professional Judgement Lens — Author and Edit Drawing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with the production or stakeholder decision.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least destructive control that preserves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model, sheet, reference and data responsibilities distinct.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in the final output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evidence that another reviewer can reproduce.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why the alternative controls were not selected.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3.1 — Reuse and leverage existing design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3.1.a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Create, manage and edit block definitions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3.1.b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blocks or objects to an external drawing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3.1.c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 blocks and block libraries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3.1.d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clipboard for precise 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3.1.a — Create, manage and edit block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Create, manage and edit block definitions.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door symbol needs one governed definition and instance-specific asset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BLOCK · BEDIT · ATTDEF · ATTSYNC.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All inserts share the approved geometry while attributes retain correct values after definition changes.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Redefinition without attribute synchronization leaves inconsistent instances.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3.1.a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Create, manage and edit block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a stable base point and insertion behaviour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ByLayer and ByBlock intentionally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Attach attributes only to data-bearing instances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Synchronize changed attribute definitions safely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3.1.a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Create, manage and edit block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door symbol needs one governed definition and instance-specific asset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Define a stable base point and insertion behaviour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ByLayer and ByBlock intentionally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All inserts share the approved geometry while attributes retain correct values after definition changes.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Redefinition without attribute synchronization leaves inconsistent instances.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3.1.a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Create, manage and edit block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3.1.a.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Attach attributes only to data-bearing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Synchronize changed attribute definitions safely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BLOCK · BEDIT · ATTDEF · ATTSYNC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 inserts share the approved geometry while attributes retain correct values after definition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Redefinition without attribute synchronization leaves inconsistent instances.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3.1.b — Write blocks or objects to an external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Write blocks or objects to an external drawing.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tested equipment assembly must become a reusable library component.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WBLOCK · base point · source selection.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external DWG inserts at the expected scale, orientation and reference point.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 poor base point or unit mismatch makes every future insertion corrective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3.1.b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Write blocks or objects to an external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Decide between block source and selected objects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a meaningful world-space base 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destination units and ownership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Validate the exported file independently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3.1.b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Write blocks or objects to an external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tested equipment assembly must become a reusable library component.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Decide between block source and selected objects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Choose a meaningful world-space base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external DWG inserts at the expected scale, orientation and reference point.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 poor base point or unit mismatch makes every future insertion corrective work.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3.1.b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Write blocks or objects to an external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3.1.b.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Set destination units and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Validate the exported file independently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WBLOCK · base point · source selection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external DWG inserts at the expected scale, orientation and reference point.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poor base point or unit mismatch makes every future insertion corrective work.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3.1.c — Access blocks and block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Access blocks and block libraries.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team must insert approved furniture symbols across multiple projects.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Blocks palette · libraries · recent/favourites.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Users reach the controlled library and insert the correct definition with predictable units.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Convenient recent blocks may be outdated or project-specific.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3.1.c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Access blocks and block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current-drawing blocks from governed libraries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previews as navigation, not approval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insertion units and definition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Prefer one trusted definition over near-duplicates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3.1.c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Access blocks and block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team must insert approved furniture symbols across multiple projects.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Separate current-drawing blocks from governed libraries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previews as navigation, not approval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Users reach the controlled library and insert the correct definition with predictable units.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Convenient recent blocks may be outdated or project-specific.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3.1.c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Access blocks and block libraries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3.1.c.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insertion units and definition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one trusted definition over near-duplicates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Blocks palette · libraries · recent/favourites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Users reach the controlled library and insert the correct definition with predictable units.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Convenient recent blocks may be outdated or project-specific.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3.1.d — Use the clipboard for precise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Use the clipboard for precise reuse.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reviewed detail must transfer to a related drawing at the same coordinates.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COPYCLIP · COPYBASE · PASTEORIG · CUTBASE.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geometry lands at the intended location with no duplicate ownership or scale shift.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Ordinary paste uses an arbitrary insertion point and invites alignment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3.1.d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Use the clipboard for precise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base point when placement relationship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original location for coordinated drawings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copy from cut ownership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units and coordinate systems between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3.1.d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Use the clipboard for precise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reviewed detail must transfer to a related drawing at the same coordinates.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a base point when placement relationship matters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original location for coordinated drawings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geometry lands at the intended location with no duplicate ownership or scale shift.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Ordinary paste uses an arbitrary insertion point and invites alignment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3.1.d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Use the clipboard for precise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3.1.d.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Distinguish copy from cut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units and coordinate systems between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COPYCLIP · COPYBASE · PASTEORIG · CUTBASE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geometry lands at the intended location with no duplicate ownership or scale shift.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Ordinary paste uses an arbitrary insertion point and invites alignment error.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3.2 — Create and edit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3.2.a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arcs from direction and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3.2.b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polylines from existing objects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3.2.c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Offset existing geometry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3.2.d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hatch boundaries and boundary sets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3.2.e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associative rectangular, polar and path arrays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3.2.a — Create arcs from direction and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arcs from direction and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profile arc is defined by endpoints and included angle rather than a known centre.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ARC methods · centre · chord · angle · direction.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chosen method reproduces the required curve and continuity from the available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Guessing a centre can create a visually plausible but dimensionally wrong arc.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3.2.a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 arcs from direction and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a construction method from known design 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Respect clockwise and counter-clockwise direction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tangency only where design intent requires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radius, included angle and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3.2.a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 arcs from direction and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profile arc is defined by endpoints and included angle rather than a known centre.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Select a construction method from known design information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Respect clockwise and counter-clockwise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chosen method reproduces the required curve and continuity from the available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Guessing a centre can create a visually plausible but dimensionally wrong arc.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3.2.a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 arcs from direction and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3.2.a.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tangency only where design intent requires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radius, included angle and endpoints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ARC methods · centre · chord · angle · direction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chosen method reproduces the required curve and continuity from the available values.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Guessing a centre can create a visually plausible but dimensionally wrong arc.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3.2.b — Create polylines from existing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polylines from existing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Imported boundary segments must become a reliable area and hatch boundary.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PEDIT · JOIN · PLINEGEN.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resulting polyline is continuous, correctly closed and displays its linetype as intended.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 generous join tolerance can bridge unintended gaps and corrupt area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3.2.b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 polylines from existing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Join only endpoints within an understood tolerance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PEDIT when line and arc segments must become one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PLINEGEN for intended linetype continuity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open or closed status explicitly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3.2.b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 polylines from existing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Imported boundary segments must become a reliable area and hatch boundary.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Join only endpoints within an understood tolerance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PEDIT when line and arc segments must become one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resulting polyline is continuous, correctly closed and displays its linetype as intended.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 generous join tolerance can bridge unintended gaps and corrupt area results.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3.2.b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 polylines from existing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3.2.b.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Set PLINEGEN for intended linetype continuity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open or closed status explicitly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PEDIT · JOIN · PLINEGEN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resulting polyline is continuous, correctly closed and displays its linetype as intended.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generous join tolerance can bridge unintended gaps and corrupt area results.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3.2.c — Offset existing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Offset existing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wall face and a clearance envelope must be derived from a controlled centreline.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OFFSET Layer · Erase · Through · Multiple.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Offsets maintain the specified relationship and land on the intended layers.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Repeated offsets compound rounding and can produce hidden duplicate geometry.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3.2.c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Offset existing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distance when the separation is governed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Through when a target point governs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source or current layer ownership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erase and multiple only when the downstream structure is clear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3.2.c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Offset existing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wall face and a clearance envelope must be derived from a controlled centreline.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distance when the separation is governed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Through when a target point governs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Offsets maintain the specified relationship and land on the intended layers.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Repeated offsets compound rounding and can produce hidden duplicate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3.2.c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Offset existing geometry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3.2.c.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source or current layer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erase and multiple only when the downstream structure is clear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OFFSET Layer · Erase · Through · Multiple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Offsets maintain the specified relationship and land on the intended layers.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Repeated offsets compound rounding and can produce hidden duplicate geometry.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3.2.d — Define hatch boundaries and boundary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Define hatch boundaries and boundary sets.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section hatch must fill one component while leaving holes and adjacent parts clear.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HATCH · boundary set · gap tolerance · island detection.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hatch respects intended islands, remains associative and does not search irrelevant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High gap tolerance can bridge real openings and misrepresent the section.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3.2.d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Define hatch boundaries and boundary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 the boundary set in dense drawings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gap tolerance only for known small defects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island detection from section meaning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 associativity where geometry will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3.2.d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Define hatch boundaries and boundary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section hatch must fill one component while leaving holes and adjacent parts clear.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Limit the boundary set in dense drawings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gap tolerance only for known small defects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hatch respects intended islands, remains associative and does not search irrelevant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High gap tolerance can bridge real openings and misrepresent the section.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3.2.d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Define hatch boundaries and boundary 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3.2.d.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island detection from section 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Preserve associativity where geometry will 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HATCH · boundary set · gap tolerance · island detection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hatch respects intended islands, remains associative and does not search irrelevant geometry.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High gap tolerance can bridge real openings and misrepresent the section.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3.2.e — Manage associative rectangular, polar and path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associative rectangular, polar and path arrays.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Fasteners repeat around a flange while supports repeat along a curved path.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ARRAYRECT · ARRAYPOLAR · ARRAYPATH.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Each array exposes the parameters that govern the design pattern and updates predictably.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Exploded copies lose the design relationship and hide inconsistent spacing.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3.2.e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Manage associative rectangular, polar and path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the array type from geometric relationship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associativity for controlled repetition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count, spacing, fill and alignment deliberately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Explode only for a documented downstream need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3.2.e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Manage associative rectangular, polar and path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Fasteners repeat around a flange while supports repeat along a curved path.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the array type from geometric relationship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Retain associativity for controlled repetition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Each array exposes the parameters that govern the design pattern and updates predictably.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Exploded copies lose the design relationship and hide inconsistent spacing.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3.2.e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Manage associative rectangular, polar and path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3.2.e.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count, spacing, fill and alignment deliberately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Explode only for a documented downstream need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ARRAYRECT · ARRAYPOLAR · ARRAYPATH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array exposes the parameters that govern the design pattern and updates predictably.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Exploded copies lose the design relationship and hide inconsistent spacing.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3.3 — Edit geometry with grips and multifunctional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3.3.a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 alternate modify commands with grips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3.3.b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Edit with multiple selected grips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3.3.c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dynamic input and multifunctional grips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3.3.a — Access alternate modify commands with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Access alternate modify commands with grips.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line endpoint must move while a block insert must rotate about its base point.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hot grips · grip modes · shortcut menu.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grip action matches the object-specific control and preserves exact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Dragging by eye creates silent geometric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3.3.a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Access alternate modify commands with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selected grip as the transformation reference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Cycle only among commands valid for the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 exact values with dynamic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Prefer command workflows when selection scope is ambiguous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3.3.a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Access alternate modify commands with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line endpoint must move while a block insert must rotate about its base point.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the selected grip as the transformation reference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Cycle only among commands valid for the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grip action matches the object-specific control and preserves exact values.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Dragging by eye creates silent geometric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3.3.a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Access alternate modify commands with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3.3.a.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 exact values with dynamic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command workflows when selection scope is ambiguous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hot grips · grip modes · shortcut menu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grip action matches the object-specific control and preserves exact values.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Dragging by eye creates silent geometric error.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3.3.b — Edit with multiple selected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Edit with multiple selected grips.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rectangular opening must widen symmetrically without moving its centreline.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Shift-select grips · stretch sets · base grip.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selected grip set produces the intended change and leaves protected geometry fixed.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An extra active grip can distort unrelated edges or break connectivity.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3.3.b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Edit with multiple selected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grips that define the intended deformation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anchored geometry outside the active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predictable base grip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connected geometry after the edit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3.3.b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Edit with multiple selected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rectangular opening must widen symmetrically without moving its centreline.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Select grips that define the intended deformation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Keep anchored geometry outside the active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selected grip set produces the intended change and leaves protected geometry fixed.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An extra active grip can distort unrelated edges or break connectivity.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3.3.b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Edit with multiple selected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3.3.b.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 predictable base grip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connected geometry after the edit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Shift-select grips · stretch sets · base grip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selected grip set produces the intended change and leaves protected geometry fixed.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extra active grip can distort unrelated edges or break connectivity.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3.3.c — Combine dynamic input and multifunctional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Combine dynamic input and multifunctional grips.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polyline corner requires an exact new segment length and arc conversion.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dynamic input · multifunction grips · numeric fields.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edit records the intended parameter values and object type.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Typing into the wrong dynamic field changes angle instead of length.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3.3.c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Combine dynamic input and multifunctional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 which field is active before entering a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Tab to move among geometric 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the grip function from object intent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final properties rather than trusting cursor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3.3.c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Combine dynamic input and multifunctional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polyline corner requires an exact new segment length and arc conversion.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Read which field is active before entering a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Tab to move among geometric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edit records the intended parameter values and object type.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Typing into the wrong dynamic field changes angle instead of length.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3.3.c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Combine dynamic input and multifunctional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3.3.c.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 the grip function from object intent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final properties rather than trusting cursor feedback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dynamic input · multifunction grips · numeric fields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edit records the intended parameter values and object type.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Typing into the wrong dynamic field changes angle instead of length.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3.4 — Draw and edit with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3.4.a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edit objects with dynamic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3.4.b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object snaps and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3.4.c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 absolute, relative and polar coordinates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3.4.a — Create and edit objects with dynamic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edit objects with dynamic input.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rotated component must be drawn from exact length and angle values near the cursor.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DYNMODE · point input · dimension input · prompts.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created geometry matches the intended numerical constraints.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Visual cursor direction can conceal a negative or alternate-angle entry.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3.4.a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 and edit objects with dynamic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coordinate fields from dimension fields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Lock or cycle fields deliberately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dynamic prompts to expose command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values in properties after complex edits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3.4.a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 and edit objects with dynamic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rotated component must be drawn from exact length and angle values near the cursor.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Distinguish coordinate fields from dimension fields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Lock or cycle fields deliberately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created geometry matches the intended numerical constraints.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Visual cursor direction can conceal a negative or alternate-angle entry.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3.4.a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 and edit objects with dynamic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3.4.a.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dynamic prompts to expose command options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values in properties after complex edits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DYNMODE · point input · dimension input · prompts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created geometry matches the intended numerical constraints.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Visual cursor direction can conceal a negative or alternate-angle entry.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3.4.b — Use object snaps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Use object snaps and tracking.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hole centre must align horizontally with one feature and vertically with another.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OSNAP · overrides · OTRACK · POLAR.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point is derived from exact tracked relationships and survives measurement.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Too many running snaps cause cursor capture at the wrong candidate.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3.4.b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Use object snaps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running snaps limited to frequently needed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overrides for exceptional snaps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Acquire tracking points without creating geometry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 polar and object tracking only when their guides are meaningful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3.4.b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Use object snaps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hole centre must align horizontally with one feature and vertically with another.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Keep running snaps limited to frequently needed points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overrides for exceptional snaps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point is derived from exact tracked relationships and survives measurement.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Too many running snaps cause cursor capture at the wrong candidate.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3.4.b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Use object snaps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3.4.b.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Acquire tracking points without creating geometry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polar and object tracking only when their guides are meaningful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OSNAP · overrides · OTRACK · POLAR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point is derived from exact tracked relationships and survives measurement.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running snaps cause cursor capture at the wrong candidate.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3.4.c — Specify absolute, relative and polar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Specify absolute, relative and polar coordinates.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profile combines a surveyed start point, orthogonal steps and angled edges.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x,y · @dx,dy · @distance&lt;angle.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Each segment uses the coordinate method that directly represents the available design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Ignoring the active UCS makes correct numbers produce wrong world positions.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3.4.c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Specify absolute, relative and polar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absolute coordinates for project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relative Cartesian input for orthogonal offsets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relative polar input for direction and distance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Relate all methods to the active UCS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3.4.c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Specify absolute, relative and polar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profile combines a surveyed start point, orthogonal steps and angled edges.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absolute coordinates for project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relative Cartesian input for orthogonal offsets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Each segment uses the coordinate method that directly represents the available design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Ignoring the active UCS makes correct numbers produce wrong world positions.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3.4.c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Specify absolute, relative and polar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3.4.c.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relative polar input for direction and distance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Relate all methods to the active UCS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x,y · @dx,dy · @distance&lt;angle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segment uses the coordinate method that directly represents the available design data.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Ignoring the active UCS makes correct numbers produce wrong world positions.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LINE draws straight segments between picked or typed points.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Specify the first point, then each next point; every segment is a separate object.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Combine with object snaps and grid snap for exact geometry.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Coordinate entry: absolute (100,50) · relative (@50,0) · polar (@50&lt;30).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 and Rectangles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CIRCLE: centre + radius or diameter; 2P/3P through points; TTR tangent-tangent-radius.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RECTANG creates a closed rectangular polyline from two corners.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Rectangle options add chamfered or filleted corners and a set width.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dimensions option (@length,width) for exact rectangle sizes.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Polygons and Ellipses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POLYGON draws regular polygons of 3–1024 sides.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Inscribed polygons fit inside the reference circle; circumscribed fit outside.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ELLIPSE uses two axis endpoints then the half-width of the other axis.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elliptical arc is an ellipse with start and end angles.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Arcs, Polylines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ARC draws by combinations of start, centre, end, radius, angle and direction.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PLINE creates one object of connected line and arc segments — switch modes as you draw.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SPLINE fits a smooth curve through or near a set of fit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Closed polylines are the basis for hatching, areas and 3D operations.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CONSTRUCTION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Points, Construction Lines and 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POINT places node objects; PDMODE and PDSIZE control how they display.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Points act as snap nodes — DIVIDE and MEASURE place them along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XLINE creates infinite construction lines for projecting between views.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RAY starts at a point and extends infinitely in one direction.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ISOMETRIC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 with ISODRAFT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2D isometric drawing is a flat representation of a 3D isometric projection.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ISODRAFT switches the crosshairs to the isometric axes (30°/90°/150°).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F5 cycles the three isoplanes: Top, Right and Left.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Isocircles (ELLIPSE → Isocircle) draw round features on the active isoplane.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Relocating and Duplicating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MOVE (M)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objects, pick a base point, then the second point — the objects relocate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COPY (CO)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Same flow as MOVE but leaves the original; Multiple mode places copy after copy.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ROTATE (RO)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Rotate about a base point by an absolute angle, or use Reference to match geometry.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OFFSET (O)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Creates concentric circles, parallel lines and parallel curves at a set distance.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Offset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offset is governed by a distance or through-point plus the intended side of the source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Through mode offsets through a picked point instead of a distance.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Offset polylines keep their corners; circles offset concentrically.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Wall outlines, slots and rims are all one offset away from their centreline.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MIRROR (MI)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Draw half of a symmetric design, then reflect it across a two-point mirror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STRETCH (S)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with a crossing window; endpoints inside move, the rest stay anchored.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SCALE (SC)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Resize about a base point by factor — or Reference to hit an exact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first, then drag grips to stretch/move without any command.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 and Extend — Two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Quick mode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Standard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Select the objects to be trimmed or extended, one by one or by dragging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visible geometry acts as the cutting/boundary edge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Fastest for everyday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First select boundary edges, press Enter, then select objects to trim/extend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Press Enter at the first prompt to make everything a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Precise control for crowded drawings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Arrays — Rectangular, Polar and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ARRAY creates copies arranged in a pattern — associative by default.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Rectangular: rows, columns and levels with set spacing.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Polar: evenly distributes copies around a centre point or axis.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Path: distributes copies along a line, polyline or curve.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FILLET rounds the corner between two objects with a set radius.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Enter r (Radius) first to change the current fillet radius.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CHAMFER bevels a corner using two distances or a distance and angle.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Radius 0 / distance 0 are quick ways to square off a corner exactly.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Erase, Explode, Break, Divide and Measure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ERASE (E)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Remove selected objects — or select first and press Delete.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EXPLODE (X)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Break a compound object (polyline, block, array) into components.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BREAK / Break at Point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Split lines, open polylines and arcs at one or two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DIVIDE · MEASURE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Place point nodes at equal counts (DIVIDE) or set intervals (MEASURE).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Hide and Isolate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Isolate Selected Objects hides everything except your selection.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Hide Selected Objects removes just the selection from 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Both are temporary view states — End Object Isolation restores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shortcut menu and status-bar isolation control expose the same temporary view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DIRECT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Select with no command running and grips appear at defining points.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Drag a grip to stretch; press Enter to cycle Stretch → Move → Rotate → Scale → Mirror.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Hover a grip for its multi-function menu (e.g. add vertex, convert to arc).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Lines, polylines, arcs, dimensions and viewports all expose smart grips.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Dynamic Blocks and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BLOCK combines objects into a named, reusable symbol inserted with INSERT.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Dynamic blocks add parameters and actions — one block, many sizes/states.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Attributes attach data to a block: part numbers, descriptions, quantities.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ATTDEF defines the tag, prompt and default; DATAEXTRACTION turns attributes into part-list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AUTHORING WITH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Object type is a design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Choose geometry by how it must behave when selected, measured, revised and reused.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CHOOSE BY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Advanced Drawing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Polyline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Connected line/arc segments as one editable object.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Smooth fit or control-vertex curve for refined profiles.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Polygon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Regular closed polyline from centre/radius or edge.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Region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Closed 2D area with properties and Boolean operations.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Xline / Ray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Infinite or semi-infinite construction reference.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Parallel elements governed by a named style.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CONNECTED VS CONTROLLED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Polyline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Polylines stay connected through grip editing.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Width, arcs and linetype generation live on one object.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Closed polylines support area, regions and extrusion.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Fit splines pass through points; CV splines are shaped by a control frame.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fewer, deliberate control points.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based on revision control, not smooth appearance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ACCURACY IS 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Precision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units and UCS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snap/track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Enter coordinates or distances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Edit with grips and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 and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SELECT THE LEAST DESTRUCTIVE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Modification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Move, Copy, Rotate, Mirror, Scale and Stretch.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Parallel / 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Offset, Trim, Extend, Break and Join.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Corner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Fillet and Chamfer with deliberate radii/distances.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Pattern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Rectangular, polar and path arrays.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Explode only when object structure must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 manipulation with object-specific options.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EDIT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Associative Arrays and Multifunctional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Associative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Multifunctional grips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Arrays retain count, spacing, angle or path relationships.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Edit the array as one parametric collection.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Explode only for a documented downstream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Grip menus expose object-specific actions.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Hover to identify Stretch, Add, Remove, Convert and other modes.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Dynamic input shows values near the cursor.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2D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Regions and Boolean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closed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Convert to regions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area and centroid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Union, subtract or intersect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a pre-Boolean copy for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FLAT GEOMETRY · 3D APPEARANCE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Drafting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Isoplane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Left, Top or Right controls the active snap plane.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Cycle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F5 or Ctrl+E changes isoplane.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Isocircle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Ellipse option available only in isometric drafting.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isometric drawing is 2D representation, not a 3D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aligned/oblique techniques deliberately.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when a fast pictorial view supports the audience.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REUSE VS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 vs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block is one reusable definition with many instances.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Edit the definition to update its instances.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Attributes carry instance-specific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group is a temporary selection relationship between existing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does not create a reusable definition.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it for coordinated selection, not standard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DRAWING CONTENT AS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Attributes to Data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the information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and populate blocks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Synchronise controlled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Extract a schedule and 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LO1–LO2 · K1, K2 · A1,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 — Advanced Geometry and Precision Editing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object types that suit revision behaviour.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precision tools into a repeatable system.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the final 2D and isometric geometry.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precise 2D component study plus an isometric view using fit-for-purpose object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 — Blocks, Attributes and Data Extraction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Design reusable block definitions.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Carry instance data through attributes.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Extract and validate a component schedule.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small furniture block library with attributes and an extracted component schedule.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LO1–LO2 · Exam 3.2, 3.4 · K1–K2 · A1–A2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13 — Coordinate Geometry and Construction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Translate drawing-sheet information into coordinate methods.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construction objects without polluting the final output.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Measure every critical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closed, dimensionally verified profile combining Cartesian and polar input with appropriate object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Exam 3.2.e, 3.3 · K2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14 — Associative Arrays and Grip-Based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Retain associative pattern relationships.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exact grip parameters rather than visual dragging.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Explain why the geometry remains editable.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An associative pattern study and a revised technical component with documented grip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Configure and Manage Design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Layouts · viewports · page setup · plotting · publishing · eTransmit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DECEMBER 2025 AUTODESK ACP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4 Coverage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 groups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groups in the official content outline.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Leaf objectives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7 individually traceable exam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Teaching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Intent → decision controls → applied scenario → quality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Visible state, measured result, controlled output and explained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SOFTWARE FEATURE TO PROFESSIONAL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Professional Judgement Lens — Configure and Manage Design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with the production or stakeholder decision.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least destructive control that preserves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model, sheet, reference and data responsibilities distinct.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in the final output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evidence that another reviewer can reproduce.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why the alternative controls were not selected.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4.1 — Configure production drawing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4.1.a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Configure and manage named page setups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4.1.b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layout viewports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4.1.c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layout viewports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4.1.a — Configure and manage named page setups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Configure and manage named page setups.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Twenty layouts must produce consistent A3 PDFs and office printer proofs.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PAGESETUP · plotter · CTB/STB · plot area.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Named setups can be applied repeatedly and produce predictable media, scale and line hierarchy.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Layout-by-layout manual settings create hidden output drift.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4.1.a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Configure and manage named page setups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setups by output purpose and sheet standard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Coordinate device, paper, plot area and orientation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the approved plot-style 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lineweights and options in preview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4.1.a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Configure and manage named page setups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Twenty layouts must produce consistent A3 PDFs and office printer proofs.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Name setups by output purpose and sheet standard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Coordinate device, paper, plot area and orientation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Named setups can be applied repeatedly and produce predictable media, scale and line hierarchy.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Layout-by-layout manual settings create hidden output drift.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4.1.a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Configure and manage named page setups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4.1.a.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the approved plot-style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Test lineweights and options in preview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PAGESETUP · plotter · CTB/STB · plot area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setups can be applied repeatedly and produce predictable media, scale and line hierarchy.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Layout-by-layout manual settings create hidden output drift.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4.1.b — Create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layout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sheet needs one overall plan and a clipped detail around an irregular room.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MVIEW · polygonal viewport · object viewport · Insert 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layout contains purposeful view boundaries with clear sheet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Viewports on a plotting layer can print unwanted frames.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4.1.b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rectangular or non-rectangular boundaries from composition needs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viewports only in paper 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named views where repeatability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viewport boundary layer from plotted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4.1.b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sheet needs one overall plan and a clipped detail around an irregular room.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rectangular or non-rectangular boundaries from composition needs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Create viewports only in paper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layout contains purposeful view boundaries with clear sheet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Viewports on a plotting layer can print unwanted frames.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4.1.b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4.1.b.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named views where repeatability matters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viewport boundary layer from plotted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MVIEW · polygonal viewport · object viewport · Insert View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layout contains purposeful view boundaries with clear sheet ownership.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Viewports on a plotting layer can print unwanted frames.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4.1.c — Manage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layout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detail viewport must be 1:10, hide ceiling layers and remain stable through 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VPCLIP · lock · layer control · viewport scale.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Scale, lock, clip and viewport-specific visibility all survive reopen and plot preview.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Unlocked viewports are easily changed by accidental zooming.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4.1.c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Manage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and verify exact scale before locking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viewport layer controls for presentation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Clip only when composition requires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annotation scale to viewport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4.1.c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Manage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detail viewport must be 1:10, hide ceiling layers and remain stable through 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Set and verify exact scale before locking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viewport layer controls for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Scale, lock, clip and viewport-specific visibility all survive reopen and plot preview.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Unlocked viewports are easily changed by accidental zooming.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4.1.c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Manage layout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4.1.c.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Clip only when composition requires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Match annotation scale to viewport scale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VPCLIP · lock · layer control · viewport scale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Scale, lock, clip and viewport-specific visibility all survive reopen and plot preview.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Unlocked viewports are easily changed by accidental zooming.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4.2 — Plot and publish production drawing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4.2.a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and manage a publish sheet 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4.2.b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Configure an Electronic Transmittal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4.2.a — Define and manage a publish sheet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Define and manage a publish sheet list.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24-sheet issue must produce one ordered PDF using a revised output device.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PUBLISH · DSD sheet list · page setup override.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sheet list, order and override yield a complete, consistent package.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One stale layout or missing setup can silently compromise the batch.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4.2.a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Define and manage a publish sheet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Order sheets for stakeholder reading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overrides only to controlled output variants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Validate every source layout before batch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Save reusable sheet lists with project-relative 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4.2.a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Define and manage a publish sheet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24-sheet issue must produce one ordered PDF using a revised output device.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Order sheets for stakeholder reading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Apply overrides only to controlled output 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sheet list, order and override yield a complete, consistent package.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One stale layout or missing setup can silently compromise the batch.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4.2.a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Define and manage a publish sheet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4.2.a.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Validate every source layout before batch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Save reusable sheet lists with project-relative references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PUBLISH · DSD sheet list · page setup override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sheet list, order and override yield a complete, consistent package.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stale layout or missing setup can silently compromise the batch.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4.2.b — Configure an Electronic Transmittal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Configure an Electronic Transmittal package.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consultant must receive a portable package that opens without unresolved dependencies.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ETRANSMIT · path options · dependency report.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package inventory and test-open confirm all permitted dependencies resolve.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Sending only the host DWG produces missing references and unreliable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4.2.b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Configure an Electronic Transmittal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Include required references, fonts, plot styles and data links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path handling for the recipient environment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Purge only when permitted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the transmittal report before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4.2.b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Configure an Electronic Transmittal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consultant must receive a portable package that opens without unresolved dependencies.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Include required references, fonts, plot styles and data links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Choose path handling for the recipient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package inventory and test-open confirm all permitted dependencies resolve.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Sending only the host DWG produces missing references and unreliable output.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4.2.b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Configure an Electronic Transmittal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4.2.b.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Purge only when permitted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the transmittal report before 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ETRANSMIT · path options · dependency report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package inventory and test-open confirm all permitted dependencies resolve.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Sending only the host DWG produces missing references and unreliable output.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4.3 — Use the Sheet Set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4.3.a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sheets within a sheet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4.3.b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Modify sheet and sheet-set properties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4.3.a — Create sheets within a sheet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sheets within a sheet set.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project adds four detail sheets to an existing discipline subset.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SHEETSET · import layout · new sheet · subsets.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new sheets appear in the correct subset with controlled names, numbers and layout sources.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Ad-hoc layouts outside the sheet set evade package coordination.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4.3.a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sheets within a sheet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subsets to express package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Import only layouts that meet sheet standards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new sheets from governed templates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unique sheet numbers and names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4.3.a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sheets within a sheet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project adds four detail sheets to an existing discipline subset.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subsets to express package structure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Import only layouts that meet sheet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new sheets appear in the correct subset with controlled names, numbers and layout sources.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Ad-hoc layouts outside the sheet set evade package coordination.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4.3.a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sheets within a sheet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4.3.a.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new sheets from governed templates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Maintain unique sheet numbers and names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SHEETSET · import layout · new sheet · subsets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new sheets appear in the correct subset with controlled names, numbers and layout sources.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Ad-hoc layouts outside the sheet set evade package coordination.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4.3.b — Modify sheet and sheet-set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Modify sheet and sheet-set properties.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project phase and issue date change across every title block while two sheets are renumbered.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Sheet Set Manager · custom properties · renumbering.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Fields and sheet lists update from governed properties without manual title-block edits.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Manual text overrides leave contradictory issue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4.3.b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Modify sheet and sheet-set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sheet properties from set-wide properties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properties as field 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Renumber with downstream references in mind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Regenerate lists and title data after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4.3.b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Modify sheet and sheet-set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project phase and issue date change across every title block while two sheets are renumbered.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Distinguish sheet properties from set-wide properties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properties as field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Fields and sheet lists update from governed properties without manual title-block edits.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Manual text overrides leave contradictory issue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4.3.b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Modify sheet and sheet-set properties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4.3.b.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Renumber with downstream references in mind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Regenerate lists and title data after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Sheet Set Manager · custom properties · renumbering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Fields and sheet lists update from governed properties without manual title-block edits.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 text overrides leave contradictory issue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and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space is where you design — always draw at 1:1 real-world size.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Paper space (layouts) is where you compose scaled sheets for printing.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UCS icon shows the origin and orientation of the coordinate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Switch between them with the Model and Layout tabs below the drawing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 and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layout is the 2D sheet environment: title block, viewports, annotation.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MVIEW creates layout viewports — windows into model 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Set each viewport's scale exactly (e.g. 1:20), then lock it against accidental zooming.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model, many sheets: each layout composes its own views and scales.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Plotting and Printing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Plot from the layout: choose plotter, paper size, plot area, scale and orientation.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DWG To PDF.pc3 publishes the standard submission PDF.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Page setups save the configuration per layout and import between drawings.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Preview before plotting — check lineweights, scale and the full sheet.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SHEET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Model once. Communicate through controlled sheets.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Paper space governs view, scale, title block and output — without duplicating model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AUTHORING AND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vs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Model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Paper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 at full size in agreed drawing units.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Create and revise design geometry once.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 discipline layers and object properties.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Compose sheets at paper size.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views through scaled viewports.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Apply title blocks, page setups and sheet-specific emphasis.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REPEATABLE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 and Page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Create/rename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device or PDF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paper and orientation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plot area, scale and style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Preview and assign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WINDOWS INTO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Viewport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Top, Front, Right, Isometric or a named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an approved custom or standard scale.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Visual style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2D wireframe, Hidden, Shaded or Realistic by purpose.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Layer override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Emphasise the sheet without changing the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 accidental pan/zoom after approval.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Annotation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readability at the viewport scale.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Output Quality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68680" y="1874519"/>
          <a:ext cx="103327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806440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Conceptual 1–5 quality-impact comparison for discussion; values are instructional, not measured project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MULTI-SHEET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Publish a Drawing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Order current layouts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page setups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Configure PDF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Preview every sheet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and inspect the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COMPLETE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eTransmit a Portable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Resolve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path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Include fonts/plot styles as permitted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ZIP and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Open-test from the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K3 · A1, A2,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 — Layouts, Viewports and Page Setups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ISO A1, A2 and A3 sheets.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Control views, scales, visual styles and locks.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Prove title-block and page-setup consistency.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coordinated three-sheet sink drawing set that mirrors the original practical-assessment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LO3–LO4 · K3, K4 · A3,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 — Publish, Plot and eTransmit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Publish only current, ordered layouts.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Inspect each PDF sheet at full size.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the eTransmit inventory and portability.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published PDF sheet set and a verified eTransmit package with a transmittal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LO3–LO4 · Exam 4.1–4.3 · K3–K4 · A3–A4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Lab 15 — Named Page Setups, Sheet Sets and Batch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Drive output from named page setups and sheet properties.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Lock scales and sheet-specific presentation.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Batch-publish and open-test the package.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governed office drawing sheet set with reusable page setups, sheet metadata and a verified batch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Collaboration and Emerging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Xrefs · underlays · compare · shared views · tool palettes ·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DECEMBER 2025 AUTODESK ACP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Domain 5 Coverage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 groups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 groups in the official content outline.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Leaf objectives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9 individually traceable exam objectives.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Teaching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Intent → decision controls → applied scenario → quality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Visible state, measured result, controlled output and explained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FROM SOFTWARE FEATURE TO PROFESSIONAL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Professional Judgement Lens —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Start with the production or stakeholder decision.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the least destructive control that preserves ownership.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model, sheet, reference and data responsibilities distinct.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in the final output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evidence that another reviewer can reproduce.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why the alternative controls were not selected.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5.1 — Provide design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5.1.a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Collaborate with shared drawing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5.1.b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manage Traces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5.1.c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drawing versions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5.1.a — Collaborate with shared drawing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Collaborate with shared drawing files.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client needs browser-based review without receiving editable production files.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SHARE · shared views/files · permissions.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shared artifact has appropriate access, scope and revision identification.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Over-sharing production data creates ownership and confidentiality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5.1.a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Collaborate with shared drawing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a share method that protects source ownership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who can view, comment or edit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Communicate revision and expiry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Avoid exposing unrelated project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5.1.a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Collaborate with shared drawing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client needs browser-based review without receiving editable production files.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a share method that protects source ownership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Control who can view, comment or 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shared artifact has appropriate access, scope and revision identification.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Over-sharing production data creates ownership and confidentiality risk.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5.1.a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Collaborate with shared drawing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5.1.a.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Communicate revision and expiry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Avoid exposing unrelated project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SHARE · shared views/files · permissions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shared artifact has appropriate access, scope and revision identification.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Over-sharing production data creates ownership and confidentiality risk.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5.1.b — Create and manage Traces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manage Traces.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reviewer marks routing changes while the drafter continues production work.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TRACE · Trace palette · contributor workflow.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trace preserves reviewer intent and can be resolved without contaminating base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Redrawing feedback directly into the model loses provenance.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5.1.b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and manage Traces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trace as an overlay, not source-geometry replacement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contributor feedback from author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Resolve or retain feedback with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the base drawing authoritative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5.1.b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and manage Traces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reviewer marks routing changes while the drafter continues production work.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a trace as an overlay, not source-geometry replacement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Separate contributor feedback from author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trace preserves reviewer intent and can be resolved without contaminating base geometry.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Redrawing feedback directly into the model loses provenance.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5.1.b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and manage Traces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5.1.b.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Resolve or retain feedback with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the base drawing authoritative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TRACE · Trace palette · contributor workflow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trace preserves reviewer intent and can be resolved without contaminating base geometry.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Redrawing feedback directly into the model loses provenance.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5.1.c — Compare drawing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Compare drawing versions.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Two consultant revisions arrive with unclear change notes.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DWGCOMPARE · import differences · filters.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comparison identifies material changes and records which are accepted.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Comparing the wrong versions creates false confidence and missed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5.1.c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Compare drawing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the correct baseline and revision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Filter non-material differences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added, removed and changed objects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Import only approved changes and document the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5.1.c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Compare drawing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Two consultant revisions arrive with unclear change notes.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the correct baseline and revision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Filter non-material differences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comparison identifies material changes and records which are accepted.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Comparing the wrong versions creates false confidence and missed change.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5.1.c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Compare drawing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5.1.c.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Inspect added, removed and changed objects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Import only approved changes and document the decision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DWGCOMPARE · import differences · filters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comparison identifies material changes and records which are accepted.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Comparing the wrong versions creates false confidence and missed change.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5.2 — Manage references and underlays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5.2.a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xref attach and overlay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5.2.b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reference paths and path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5.2.c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Manipulate image and underlay frames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5.2.a — Manage xref attach and overlay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xref attach and overlay types.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discipline model must appear in the coordination host but not propagate into every downstream sheet.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XATTACH · Attach · Overlay.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reference type produces the intended nesting behaviour with no duplication.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Incorrect Attach use can duplicate references or create circular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5.2.a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Manage xref attach and overlay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Attach when nested propagation is intended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Overlay to prevent nesting beyond one 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type from coordination ownership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the reference tree for circular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5.2.a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Manage xref attach and overlay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discipline model must appear in the coordination host but not propagate into every downstream sheet.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Attach when nested propagation is intended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Overlay to prevent nesting beyond one 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reference type produces the intended nesting behaviour with no duplication.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Incorrect Attach use can duplicate references or create circular relationships.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5.2.a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Manage xref attach and overlay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5.2.a.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type from coordination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the reference tree for circular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XATTACH · Attach · Overlay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reference type produces the intended nesting behaviour with no duplication.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Incorrect Attach use can duplicate references or create circular relationships.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5.2.b — Manage reference paths and path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Manage reference paths and path types.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project folder must move from a local drive to a shared server and later into eTransmit.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Reference Manager · full · relative · no path.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References resolve after relocation using an intentional, documented path strategy.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Machine-specific full paths fail for collaborators.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5.2.b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Manage reference paths and path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relative paths inside portable project structures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full paths only for stable shared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no path when controlled search locations suffice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Repath and reload before package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5.2.b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Manage reference paths and path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project folder must move from a local drive to a shared server and later into eTransmit.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Use relative paths inside portable project structures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full paths only for stable shared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References resolve after relocation using an intentional, documented path strategy.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Machine-specific full paths fail for collaborators.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5.2.b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Manage reference paths and path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5.2.b.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no path when controlled search locations suffice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Repath and reload before package 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Reference Manager · full · relative · no path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References resolve after relocation using an intentional, documented path strategy.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Machine-specific full paths fail for collaborators.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5.2.c — Manipulate image and underlay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Manipulate image and underlay frames.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scanned survey underlay must be selectable while authoring but print without its frame.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IMAGEFRAME · PDFFRAME · DWF/DGN frames · clip.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underlay remains manageable and plots with the intended boundary treatment.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Hidden frames can make references impossible to select or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5.2.c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Manipulate image and underlay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display and plot behaviour separately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frames visible during editing when selection is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Clip to the useful evidence 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enough boundary context for 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5.2.c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Manipulate image and underlay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scanned survey underlay must be selectable while authoring but print without its frame.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Control display and plot behaviour separately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Keep frames visible during editing when selection is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underlay remains manageable and plots with the intended boundary treatment.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Hidden frames can make references impossible to select or audit.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5.2.c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Manipulate image and underlay frames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5.2.c.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Clip to the useful evidence area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Retain enough boundary context for interpretation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IMAGEFRAME · PDFFRAME · DWF/DGN frames · clip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underlay remains manageable and plots with the intended boundary treatment.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Hidden frames can make references impossible to select or audit.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OFFICIAL OBJECTIVE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5.3 — Incorporate external design data into project drawings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5.3.a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manage PDF imports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5.3.b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and manage tables using data links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5.3.c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Display dynamic data using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5.3.a — Create and manage PDF imports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manage PDF imports.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legacy vector PDF must seed editable geometry for a renovation plan.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PDFIMPORT · layers · vector geometry · raster images.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Imported objects have verified scale, layers, linework and text treatment.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Assuming the PDF is dimensionally exact can propagate scan or export distortion.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5.3.a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Decision Controls — Create and manage PDF imports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whether the PDF contains usable vectors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Map or create layers intentionally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Join collinear segments only when safe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Treat imported geometry as untrusted until checked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5.3.a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Create and manage PDF imports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legacy vector PDF must seed editable geometry for a renovation plan.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Assess whether the PDF contains usable vectors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Map or create layers intentionally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Imported objects have verified scale, layers, linework and text treatment.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Assuming the PDF is dimensionally exact can propagate scan or export distortion.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5.3.a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Create and manage PDF imports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5.3.a.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Join collinear segments only when safe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Treat imported geometry as untrusted until checked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PDFIMPORT · layers · vector geometry · raster images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Imported objects have verified scale, layers, linework and text treatment.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Assuming the PDF is dimensionally exact can propagate scan or export distortion.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5.3.b — Create and manage tables using data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Create and manage tables using data links.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A drawing schedule must reflect a controlled spreadsheet maintained by procurement.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DATALINK · TABLE · Excel link · update.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The linked table refreshes the intended range and preserves readable drawing formatting.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Broken paths or unrefreshed links publish stale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5.3.b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Create and manage tables using data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which system owns each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ranges, formatting and update direction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 linked cells from casual overrides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Refresh and record source state before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5.3.b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Applied Scenario — Create and manage tables using data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drawing schedule must reflect a controlled spreadsheet maintained by procurement.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Define which system owns each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Control ranges, formatting and update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The linked table refreshes the intended range and preserves readable drawing formatting.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Broken paths or unrefreshed links publish stale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5.3.b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Quality Review — Create and manage tables using data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5.3.b.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 linked cells from casual overrides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Refresh and record source state before issue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DATALINK · TABLE · Excel link · update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linked table refreshes the intended range and preserves readable drawing formatting.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Broken paths or unrefreshed links publish stale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AUTODESK EXAM OBJECTIVE · DOMAIN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5.3.c — Display dynamic data using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competent practice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competence is 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Exam intent: Display dynamic data using fields.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Professional context: Title blocks and callouts must show sheet properties, areas and issue dates without retyping.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objective tests selection and interpretation of the right control, not memorised interface sequences.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Tools and controls: FIELD · object properties · custom properties · sheet-set fields.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of control: Displayed values update from their authoritative objects or properties.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risk: Converted-to-text or broken fields retain old values while appearing valid.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5.3.c · PROFESSIONAL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61B26"/>
                </a:solidFill>
                <a:latin typeface="Arial"/>
              </a:rPr>
              <a:t>Decision Controls — Display dynamic data using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a stable data 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fields for values that must follow revisions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Format units, case and precision consistently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Update and inspect fields before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5.3.c · FROM BRIEF 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Scenario — Display dynamic data using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Situation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Verification and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Title blocks and callouts must show sheet properties, areas and issue dates without retyping.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Decision lens: Choose a stable data 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boundary: Use fields for values that must follow revisions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Expected evidence: Displayed values update from their authoritative objects or properties.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Failure mode: Converted-to-text or broken fields retain old values while appearing valid.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the result in the final drawing context, not only in the authoring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5.3.c · ACCEPTANCE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Review — Display dynamic data using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drawing, layout, reference or data scope governed by 5.3.c.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Format units, case and precision consistently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Update and inspect fields before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FIELD · object properties · custom properties · sheet-set fields as observable controls, then inspect the resulting state.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Displayed values update from their authoritative objects or properties.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check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Converted-to-text or broken fields retain old values while appearing valid.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TECHNICAL DRAWING FOUNDATION · 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(Xrefs)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Core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xref attaches another drawing file into the current drawing — live, not copied.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External References palette organises, reloads and repaths every reference.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Teams share one title block or site plan; edits flow to every host on reload.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PDFs and images attach the same way as underlays for tracing.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Collaboration works when ownership stays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Reference other teams' work, manage paths and communicate changes without silently duplicating source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EXTERNAL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Attach vs Overlay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Attach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Attach allows nested references to propagate into the host.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when downstream visibility is intended and controlled.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nesting and ownership.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Overlay prevents the reference from propagating when the host is referenced again.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to avoid circular or unwanted nesting.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Often safer for discipline coordination.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PORTABILITY AND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 Path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Portable within a known project folder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Exact location but fragile when moved between machines.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path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Search-based and ambiguous outside a disciplined package.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Repath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Repair links without changing insertion or scale.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Unload / reload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performance while retaining the definition.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eTransmit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Package references and document path handling.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LAYER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Xref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source prefix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global ownership intact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 host review overrides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Avoid binding without a requirement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the coordination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REFERENCE, DO NOT DUPLICATE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Underlays and Linked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PDF underlay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Reference issued sheets without redrawing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Raster image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Trace, compare or communicate using controlled imagery.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 the visible region without modifying the source.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Fade / contrast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context visible without overpowering host content.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Hyperlink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an object to approved external information.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Path 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links from the final package location.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CHANGE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Compare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Choose baseline and revision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Generate added/removed/modified overlays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Filter 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decision-critical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response and 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TECHNOLOGY MUST SERVE THE ORGANISATION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Emerging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Shared Views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Browser-based review without handing over editable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Markup Import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Bring review comments back into the drawing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extraction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block/attribute data into schedules and QA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palettes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Standardise approved commands, blocks and hatches.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scripts and routines for repeatable, governed tasks.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coordination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permissions, ownership, revision and audit trail.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A4 · A5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Technology Selection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Risk and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Value and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Accuracy and standards fit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Interoperability and path portability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Revision traceability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Security and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Time saved across repeated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Learning and support effort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Evidence and auditability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Ability to scale with organisational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09 — Xrefs, Underlays and Drawing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Preserve ownership through controlled references.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relative paths and host-only review overrides.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Classify changes and stakeholder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host coordination drawing with controlled Xrefs/underlays and a documented comparison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LO1–LO5 · K1–K4 · A1–A5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Integrated Sink Documentation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Integrate standards, layouts and component data.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Publish and package a complete sink drawing set.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Lead a concise stakeholder approval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standards-based sink drawing set with layouts, title blocks, viewports, component table, publish package and review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LO4–LO5 · Exam 5.1–5.3 · K4 · A4–A5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16 — Shared Review, References and Linked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669280" cy="4160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ab-refer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88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687568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JPEG brief supplied in the individual lab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828800"/>
            <a:ext cx="4709160" cy="41605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084831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DECISIONS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06040"/>
            <a:ext cx="4069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Preserve feedback provenance through Traces and Compare.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references portable and ownership visible.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Verify imported, linked and field-driven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5102352"/>
            <a:ext cx="4069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Outcome: </a:t>
            </a:r>
            <a:r>
              <a:rPr sz="1200" b="0">
                <a:solidFill>
                  <a:srgbClr val="161B26"/>
                </a:solidFill>
                <a:latin typeface="Arial"/>
              </a:rPr>
              <a:t>A reviewed host drawing with trace evidence, controlled references, verified PDF import and live linked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and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FROM BRIEF TO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Integrated Professional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Author and revise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Annotate and tell the 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 controlled sheets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Coordinate, review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PROVE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Quality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 the setting and the visible result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filenames that identify lab, learner and revision.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units, coordinates, scales and paths explicitly.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current DWG plus published/package outputs.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Capture acceptance criteria, not every interface action.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 the decision behind the tool choice.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WA-SAQ +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Written Assessment (WA-SAQ) — 4 open-ended questions covering K1–K4, 60 minutes, open book.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Practical Performance (PP) — 5 hands-on tasks covering A1–A5, 120 minutes, open book.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Question papers retain the original instrument type, counts, timings and K/A coverage.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•  Answer keys remain trainer-only and are never linked to the LMS or public GitHub repository.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COMPLETE EVERY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Sign-off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Practical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Assessor 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Feedback, sign-off or appeal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— Final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Completed for Day 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Completed after lunch.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Completed before the final papers.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the required feedback survey.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and Next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Professional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Revisit the detailed Learner Guide and individual lab folders.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only files and references authorised for your project.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Request post-course consultation through Tertiary Infotech.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Build a portfolio drawing set with standards evidence.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Practise explaining design decisions without relying on memorised interface sequences.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Continue with related Autodesk design and BIM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AUTOCAD DESIGN AND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Draft with intent. Revise with control. Publish with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Autodesk-ACP-AutoCAD-Design-and-Drafting  ·  TGS-2023036004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